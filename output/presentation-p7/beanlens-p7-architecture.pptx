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630400" cy="82296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来源：docs/hardware/hackathon-h3/assembly-p7/README.md；config/hardware-hackathon-h3-p7.json；docs/firmware/BRINGUP.md。2026-10-24。视觉状态机为规划，尚未完成双摄落豆链路验收。两视图不代表全表面覆盖。双图合并规则与置信阈值待标定。豆经摄影窗直接入同一杯，异常时仅能提示人停止下一颗。J7与Type-C1供电二选一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模块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6F2"/>
          </a:solidFill>
          <a:ln>
            <a:noFill/>
          </a:ln>
        </p:spPr>
      </p:sp>
      <p:sp>
        <p:nvSpPr>
          <p:cNvPr id="3" name="BeanLens  豆鉴"/>
          <p:cNvSpPr txBox="1"/>
          <p:nvPr/>
        </p:nvSpPr>
        <p:spPr>
          <a:xfrm>
            <a:off x="658368" y="43891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1">
                <a:solidFill>
                  <a:srgbClr val="203D35"/>
                </a:solidFill>
                <a:latin typeface="Heiti SC"/>
                <a:ea typeface="Heiti SC"/>
                <a:cs typeface="Heiti SC"/>
              </a:rPr>
              <a:t>BeanLens  豆鉴</a:t>
            </a:r>
            <a:endParaRPr lang="zh-CN" sz="1872" b="1"/>
          </a:p>
        </p:txBody>
      </p:sp>
      <p:sp>
        <p:nvSpPr>
          <p:cNvPr id="4" name="H3-P7  比赛手动版"/>
          <p:cNvSpPr txBox="1"/>
          <p:nvPr/>
        </p:nvSpPr>
        <p:spPr>
          <a:xfrm>
            <a:off x="10972800" y="457200"/>
            <a:ext cx="2999232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84" b="0">
                <a:solidFill>
                  <a:srgbClr val="68776E"/>
                </a:solidFill>
                <a:latin typeface="Heiti SC"/>
                <a:ea typeface="Heiti SC"/>
                <a:cs typeface="Heiti SC"/>
              </a:rPr>
              <a:t>H3-P7  比赛手动版</a:t>
            </a:r>
            <a:endParaRPr lang="zh-CN" sz="1584" b="0"/>
          </a:p>
        </p:txBody>
      </p:sp>
      <p:sp>
        <p:nvSpPr>
          <p:cNvPr id="5" name="硬件与视觉辨识架构"/>
          <p:cNvSpPr txBox="1"/>
          <p:nvPr/>
        </p:nvSpPr>
        <p:spPr>
          <a:xfrm>
            <a:off x="658368" y="1014984"/>
            <a:ext cx="13258800" cy="7498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032" b="1">
                <a:solidFill>
                  <a:srgbClr val="203D35"/>
                </a:solidFill>
                <a:latin typeface="Heiti SC"/>
                <a:ea typeface="Heiti SC"/>
                <a:cs typeface="Heiti SC"/>
              </a:rPr>
              <a:t>硬件与视觉辨识架构</a:t>
            </a:r>
            <a:endParaRPr lang="zh-CN" sz="4032" b="1"/>
          </a:p>
        </p:txBody>
      </p:sp>
      <p:sp>
        <p:nvSpPr>
          <p:cNvPr id="6" name="人工单颗投豆，双摄采集，BOX 本地辨识"/>
          <p:cNvSpPr txBox="1"/>
          <p:nvPr/>
        </p:nvSpPr>
        <p:spPr>
          <a:xfrm>
            <a:off x="676656" y="1865376"/>
            <a:ext cx="13258800" cy="3931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0">
                <a:solidFill>
                  <a:srgbClr val="68776E"/>
                </a:solidFill>
                <a:latin typeface="Heiti SC"/>
                <a:ea typeface="Heiti SC"/>
                <a:cs typeface="Heiti SC"/>
              </a:rPr>
              <a:t>人工单颗投豆，双摄采集，BOX 本地辨识</a:t>
            </a:r>
            <a:endParaRPr lang="zh-CN" sz="1944" b="0"/>
          </a:p>
        </p:txBody>
      </p:sp>
      <p:sp>
        <p:nvSpPr>
          <p:cNvPr id="7" name="模块 7"/>
          <p:cNvSpPr/>
          <p:nvPr/>
        </p:nvSpPr>
        <p:spPr>
          <a:xfrm>
            <a:off x="658368" y="2615184"/>
            <a:ext cx="2999232" cy="2468880"/>
          </a:xfrm>
          <a:prstGeom prst="roundRect">
            <a:avLst>
              <a:gd name="adj" fmla="val 5000"/>
            </a:avLst>
          </a:prstGeom>
          <a:solidFill>
            <a:srgbClr val="EEEFE9"/>
          </a:solidFill>
          <a:ln>
            <a:noFill/>
          </a:ln>
        </p:spPr>
      </p:sp>
      <p:sp>
        <p:nvSpPr>
          <p:cNvPr id="8" name="01"/>
          <p:cNvSpPr txBox="1"/>
          <p:nvPr/>
        </p:nvSpPr>
        <p:spPr>
          <a:xfrm>
            <a:off x="905256" y="281635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1">
                <a:solidFill>
                  <a:srgbClr val="AA6846"/>
                </a:solidFill>
                <a:latin typeface="Heiti SC"/>
                <a:ea typeface="Heiti SC"/>
                <a:cs typeface="Heiti SC"/>
              </a:rPr>
              <a:t>01</a:t>
            </a:r>
            <a:endParaRPr lang="zh-CN" sz="1728" b="1"/>
          </a:p>
        </p:txBody>
      </p:sp>
      <p:sp>
        <p:nvSpPr>
          <p:cNvPr id="9" name="人工投豆"/>
          <p:cNvSpPr txBox="1"/>
          <p:nvPr/>
        </p:nvSpPr>
        <p:spPr>
          <a:xfrm>
            <a:off x="905256" y="3383280"/>
            <a:ext cx="2560320" cy="493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4" b="1">
                <a:solidFill>
                  <a:srgbClr val="203D35"/>
                </a:solidFill>
                <a:latin typeface="Heiti SC"/>
                <a:ea typeface="Heiti SC"/>
                <a:cs typeface="Heiti SC"/>
              </a:rPr>
              <a:t>人工投豆</a:t>
            </a:r>
            <a:endParaRPr lang="zh-CN" sz="2304" b="1"/>
          </a:p>
        </p:txBody>
      </p:sp>
      <p:sp>
        <p:nvSpPr>
          <p:cNvPr id="10" name="上漏斗"/>
          <p:cNvSpPr txBox="1"/>
          <p:nvPr/>
        </p:nvSpPr>
        <p:spPr>
          <a:xfrm>
            <a:off x="905256" y="405079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>
                <a:solidFill>
                  <a:srgbClr val="203D35"/>
                </a:solidFill>
                <a:latin typeface="Heiti SC"/>
                <a:ea typeface="Heiti SC"/>
                <a:cs typeface="Heiti SC"/>
              </a:rPr>
              <a:t>上漏斗</a:t>
            </a:r>
            <a:endParaRPr lang="zh-CN" sz="1728" b="0"/>
          </a:p>
        </p:txBody>
      </p:sp>
      <p:sp>
        <p:nvSpPr>
          <p:cNvPr id="11" name="每次一颗，等待结果"/>
          <p:cNvSpPr txBox="1"/>
          <p:nvPr/>
        </p:nvSpPr>
        <p:spPr>
          <a:xfrm>
            <a:off x="905256" y="4443984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>
                <a:solidFill>
                  <a:srgbClr val="203D35"/>
                </a:solidFill>
                <a:latin typeface="Heiti SC"/>
                <a:ea typeface="Heiti SC"/>
                <a:cs typeface="Heiti SC"/>
              </a:rPr>
              <a:t>每次一颗，等待结果</a:t>
            </a:r>
            <a:endParaRPr lang="zh-CN" sz="1728" b="0"/>
          </a:p>
        </p:txBody>
      </p:sp>
      <p:cxnSp>
        <p:nvCxnSpPr>
          <p:cNvPr id="12" name="连接线 12"/>
          <p:cNvCxnSpPr/>
          <p:nvPr/>
        </p:nvCxnSpPr>
        <p:spPr>
          <a:xfrm>
            <a:off x="3767328" y="3849624"/>
            <a:ext cx="219456" cy="0"/>
          </a:xfrm>
          <a:prstGeom prst="line">
            <a:avLst/>
          </a:prstGeom>
          <a:ln w="23774">
            <a:solidFill>
              <a:srgbClr val="68776E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模块 13"/>
          <p:cNvSpPr/>
          <p:nvPr/>
        </p:nvSpPr>
        <p:spPr>
          <a:xfrm>
            <a:off x="4096512" y="2615184"/>
            <a:ext cx="2999232" cy="2468880"/>
          </a:xfrm>
          <a:prstGeom prst="roundRect">
            <a:avLst>
              <a:gd name="adj" fmla="val 5000"/>
            </a:avLst>
          </a:prstGeom>
          <a:solidFill>
            <a:srgbClr val="EEEFE9"/>
          </a:solidFill>
          <a:ln>
            <a:noFill/>
          </a:ln>
        </p:spPr>
      </p:sp>
      <p:sp>
        <p:nvSpPr>
          <p:cNvPr id="14" name="02"/>
          <p:cNvSpPr txBox="1"/>
          <p:nvPr/>
        </p:nvSpPr>
        <p:spPr>
          <a:xfrm>
            <a:off x="4343400" y="281635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1">
                <a:solidFill>
                  <a:srgbClr val="AA6846"/>
                </a:solidFill>
                <a:latin typeface="Heiti SC"/>
                <a:ea typeface="Heiti SC"/>
                <a:cs typeface="Heiti SC"/>
              </a:rPr>
              <a:t>02</a:t>
            </a:r>
            <a:endParaRPr lang="zh-CN" sz="1728" b="1"/>
          </a:p>
        </p:txBody>
      </p:sp>
      <p:sp>
        <p:nvSpPr>
          <p:cNvPr id="15" name="双摄抓拍"/>
          <p:cNvSpPr txBox="1"/>
          <p:nvPr/>
        </p:nvSpPr>
        <p:spPr>
          <a:xfrm>
            <a:off x="4343400" y="3383280"/>
            <a:ext cx="2560320" cy="493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4" b="1">
                <a:solidFill>
                  <a:srgbClr val="203D35"/>
                </a:solidFill>
                <a:latin typeface="Heiti SC"/>
                <a:ea typeface="Heiti SC"/>
                <a:cs typeface="Heiti SC"/>
              </a:rPr>
              <a:t>双摄抓拍</a:t>
            </a:r>
            <a:endParaRPr lang="zh-CN" sz="2304" b="1"/>
          </a:p>
        </p:txBody>
      </p:sp>
      <p:sp>
        <p:nvSpPr>
          <p:cNvPr id="16" name="左右 GC2093"/>
          <p:cNvSpPr txBox="1"/>
          <p:nvPr/>
        </p:nvSpPr>
        <p:spPr>
          <a:xfrm>
            <a:off x="4343400" y="405079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>
                <a:solidFill>
                  <a:srgbClr val="203D35"/>
                </a:solidFill>
                <a:latin typeface="Heiti SC"/>
                <a:ea typeface="Heiti SC"/>
                <a:cs typeface="Heiti SC"/>
              </a:rPr>
              <a:t>左右 GC2093</a:t>
            </a:r>
            <a:endParaRPr lang="zh-CN" sz="1728" b="0"/>
          </a:p>
        </p:txBody>
      </p:sp>
      <p:sp>
        <p:nvSpPr>
          <p:cNvPr id="17" name="LED 照明下抓拍"/>
          <p:cNvSpPr txBox="1"/>
          <p:nvPr/>
        </p:nvSpPr>
        <p:spPr>
          <a:xfrm>
            <a:off x="4343400" y="4443984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>
                <a:solidFill>
                  <a:srgbClr val="203D35"/>
                </a:solidFill>
                <a:latin typeface="Heiti SC"/>
                <a:ea typeface="Heiti SC"/>
                <a:cs typeface="Heiti SC"/>
              </a:rPr>
              <a:t>LED 照明下抓拍</a:t>
            </a:r>
            <a:endParaRPr lang="zh-CN" sz="1728" b="0"/>
          </a:p>
        </p:txBody>
      </p:sp>
      <p:cxnSp>
        <p:nvCxnSpPr>
          <p:cNvPr id="18" name="连接线 18"/>
          <p:cNvCxnSpPr/>
          <p:nvPr/>
        </p:nvCxnSpPr>
        <p:spPr>
          <a:xfrm>
            <a:off x="7205472" y="3849624"/>
            <a:ext cx="219456" cy="0"/>
          </a:xfrm>
          <a:prstGeom prst="line">
            <a:avLst/>
          </a:prstGeom>
          <a:ln w="23774">
            <a:solidFill>
              <a:srgbClr val="68776E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模块 19"/>
          <p:cNvSpPr/>
          <p:nvPr/>
        </p:nvSpPr>
        <p:spPr>
          <a:xfrm>
            <a:off x="7534656" y="2615184"/>
            <a:ext cx="2999232" cy="2468880"/>
          </a:xfrm>
          <a:prstGeom prst="roundRect">
            <a:avLst>
              <a:gd name="adj" fmla="val 5000"/>
            </a:avLst>
          </a:prstGeom>
          <a:solidFill>
            <a:srgbClr val="214D40"/>
          </a:solidFill>
          <a:ln>
            <a:noFill/>
          </a:ln>
        </p:spPr>
      </p:sp>
      <p:sp>
        <p:nvSpPr>
          <p:cNvPr id="20" name="03"/>
          <p:cNvSpPr txBox="1"/>
          <p:nvPr/>
        </p:nvSpPr>
        <p:spPr>
          <a:xfrm>
            <a:off x="7781544" y="281635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1">
                <a:solidFill>
                  <a:srgbClr val="E4EDE6"/>
                </a:solidFill>
                <a:latin typeface="Heiti SC"/>
                <a:ea typeface="Heiti SC"/>
                <a:cs typeface="Heiti SC"/>
              </a:rPr>
              <a:t>03</a:t>
            </a:r>
            <a:endParaRPr lang="zh-CN" sz="1728" b="1"/>
          </a:p>
        </p:txBody>
      </p:sp>
      <p:sp>
        <p:nvSpPr>
          <p:cNvPr id="21" name="K230D BOX 辨识"/>
          <p:cNvSpPr txBox="1"/>
          <p:nvPr/>
        </p:nvSpPr>
        <p:spPr>
          <a:xfrm>
            <a:off x="7781544" y="3383280"/>
            <a:ext cx="2560320" cy="493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4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K230D BOX 辨识</a:t>
            </a:r>
            <a:endParaRPr lang="zh-CN" sz="2304" b="1"/>
          </a:p>
        </p:txBody>
      </p:sp>
      <p:sp>
        <p:nvSpPr>
          <p:cNvPr id="22" name="双图配对与质量检查"/>
          <p:cNvSpPr txBox="1"/>
          <p:nvPr/>
        </p:nvSpPr>
        <p:spPr>
          <a:xfrm>
            <a:off x="7781544" y="405079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双图配对与质量检查</a:t>
            </a:r>
            <a:endParaRPr lang="zh-CN" sz="1728" b="0"/>
          </a:p>
        </p:txBody>
      </p:sp>
      <p:sp>
        <p:nvSpPr>
          <p:cNvPr id="23" name="裁图分类与结果合并"/>
          <p:cNvSpPr txBox="1"/>
          <p:nvPr/>
        </p:nvSpPr>
        <p:spPr>
          <a:xfrm>
            <a:off x="7781544" y="4443984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裁图分类与结果合并</a:t>
            </a:r>
            <a:endParaRPr lang="zh-CN" sz="1728" b="0"/>
          </a:p>
        </p:txBody>
      </p:sp>
      <p:cxnSp>
        <p:nvCxnSpPr>
          <p:cNvPr id="24" name="连接线 24"/>
          <p:cNvCxnSpPr/>
          <p:nvPr/>
        </p:nvCxnSpPr>
        <p:spPr>
          <a:xfrm>
            <a:off x="10643616" y="3849624"/>
            <a:ext cx="219456" cy="0"/>
          </a:xfrm>
          <a:prstGeom prst="line">
            <a:avLst/>
          </a:prstGeom>
          <a:ln w="23774">
            <a:solidFill>
              <a:srgbClr val="68776E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模块 25"/>
          <p:cNvSpPr/>
          <p:nvPr/>
        </p:nvSpPr>
        <p:spPr>
          <a:xfrm>
            <a:off x="10972800" y="2615184"/>
            <a:ext cx="2999232" cy="2468880"/>
          </a:xfrm>
          <a:prstGeom prst="roundRect">
            <a:avLst>
              <a:gd name="adj" fmla="val 5000"/>
            </a:avLst>
          </a:prstGeom>
          <a:solidFill>
            <a:srgbClr val="EEEFE9"/>
          </a:solidFill>
          <a:ln>
            <a:noFill/>
          </a:ln>
        </p:spPr>
      </p:sp>
      <p:sp>
        <p:nvSpPr>
          <p:cNvPr id="26" name="04"/>
          <p:cNvSpPr txBox="1"/>
          <p:nvPr/>
        </p:nvSpPr>
        <p:spPr>
          <a:xfrm>
            <a:off x="11219688" y="281635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1">
                <a:solidFill>
                  <a:srgbClr val="AA6846"/>
                </a:solidFill>
                <a:latin typeface="Heiti SC"/>
                <a:ea typeface="Heiti SC"/>
                <a:cs typeface="Heiti SC"/>
              </a:rPr>
              <a:t>04</a:t>
            </a:r>
            <a:endParaRPr lang="zh-CN" sz="1728" b="1"/>
          </a:p>
        </p:txBody>
      </p:sp>
      <p:sp>
        <p:nvSpPr>
          <p:cNvPr id="27" name="结果与证据"/>
          <p:cNvSpPr txBox="1"/>
          <p:nvPr/>
        </p:nvSpPr>
        <p:spPr>
          <a:xfrm>
            <a:off x="11219688" y="3383280"/>
            <a:ext cx="2560320" cy="493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4" b="1">
                <a:solidFill>
                  <a:srgbClr val="203D35"/>
                </a:solidFill>
                <a:latin typeface="Heiti SC"/>
                <a:ea typeface="Heiti SC"/>
                <a:cs typeface="Heiti SC"/>
              </a:rPr>
              <a:t>结果与证据</a:t>
            </a:r>
            <a:endParaRPr lang="zh-CN" sz="2304" b="1"/>
          </a:p>
        </p:txBody>
      </p:sp>
      <p:sp>
        <p:nvSpPr>
          <p:cNvPr id="28" name="主屏显示与批次记录"/>
          <p:cNvSpPr txBox="1"/>
          <p:nvPr/>
        </p:nvSpPr>
        <p:spPr>
          <a:xfrm>
            <a:off x="11219688" y="405079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>
                <a:solidFill>
                  <a:srgbClr val="203D35"/>
                </a:solidFill>
                <a:latin typeface="Heiti SC"/>
                <a:ea typeface="Heiti SC"/>
                <a:cs typeface="Heiti SC"/>
              </a:rPr>
              <a:t>主屏显示与批次记录</a:t>
            </a:r>
            <a:endParaRPr lang="zh-CN" sz="1728" b="0"/>
          </a:p>
        </p:txBody>
      </p:sp>
      <p:sp>
        <p:nvSpPr>
          <p:cNvPr id="29" name="保留疑似及抽查证据"/>
          <p:cNvSpPr txBox="1"/>
          <p:nvPr/>
        </p:nvSpPr>
        <p:spPr>
          <a:xfrm>
            <a:off x="11219688" y="4443984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>
                <a:solidFill>
                  <a:srgbClr val="203D35"/>
                </a:solidFill>
                <a:latin typeface="Heiti SC"/>
                <a:ea typeface="Heiti SC"/>
                <a:cs typeface="Heiti SC"/>
              </a:rPr>
              <a:t>保留疑似及抽查证据</a:t>
            </a:r>
            <a:endParaRPr lang="zh-CN" sz="1728" b="0"/>
          </a:p>
        </p:txBody>
      </p:sp>
      <p:cxnSp>
        <p:nvCxnSpPr>
          <p:cNvPr id="30" name="连接线 30"/>
          <p:cNvCxnSpPr/>
          <p:nvPr/>
        </p:nvCxnSpPr>
        <p:spPr>
          <a:xfrm>
            <a:off x="2157984" y="5084064"/>
            <a:ext cx="0" cy="777240"/>
          </a:xfrm>
          <a:prstGeom prst="line">
            <a:avLst/>
          </a:prstGeom>
          <a:ln w="18288">
            <a:solidFill>
              <a:srgbClr val="68776E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连接线 31"/>
          <p:cNvCxnSpPr/>
          <p:nvPr/>
        </p:nvCxnSpPr>
        <p:spPr>
          <a:xfrm>
            <a:off x="2157984" y="5861304"/>
            <a:ext cx="3054096" cy="0"/>
          </a:xfrm>
          <a:prstGeom prst="line">
            <a:avLst/>
          </a:prstGeom>
          <a:ln w="18288">
            <a:solidFill>
              <a:srgbClr val="68776E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实体豆路"/>
          <p:cNvSpPr txBox="1"/>
          <p:nvPr/>
        </p:nvSpPr>
        <p:spPr>
          <a:xfrm>
            <a:off x="2496312" y="54864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>
                <a:solidFill>
                  <a:srgbClr val="68776E"/>
                </a:solidFill>
                <a:latin typeface="Heiti SC"/>
                <a:ea typeface="Heiti SC"/>
                <a:cs typeface="Heiti SC"/>
              </a:rPr>
              <a:t>实体豆路</a:t>
            </a:r>
            <a:endParaRPr lang="zh-CN" sz="1440" b="0"/>
          </a:p>
        </p:txBody>
      </p:sp>
      <p:sp>
        <p:nvSpPr>
          <p:cNvPr id="33" name="下接豆斗"/>
          <p:cNvSpPr txBox="1"/>
          <p:nvPr/>
        </p:nvSpPr>
        <p:spPr>
          <a:xfrm>
            <a:off x="5413248" y="5522976"/>
            <a:ext cx="1993392" cy="3566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>
                <a:solidFill>
                  <a:srgbClr val="203D35"/>
                </a:solidFill>
                <a:latin typeface="Heiti SC"/>
                <a:ea typeface="Heiti SC"/>
                <a:cs typeface="Heiti SC"/>
              </a:rPr>
              <a:t>下接豆斗</a:t>
            </a:r>
            <a:endParaRPr lang="zh-CN" sz="1944" b="1"/>
          </a:p>
        </p:txBody>
      </p:sp>
      <p:sp>
        <p:nvSpPr>
          <p:cNvPr id="34" name="进入同一收豆杯"/>
          <p:cNvSpPr txBox="1"/>
          <p:nvPr/>
        </p:nvSpPr>
        <p:spPr>
          <a:xfrm>
            <a:off x="5413248" y="5934456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>
                <a:solidFill>
                  <a:srgbClr val="68776E"/>
                </a:solidFill>
                <a:latin typeface="Heiti SC"/>
                <a:ea typeface="Heiti SC"/>
                <a:cs typeface="Heiti SC"/>
              </a:rPr>
              <a:t>进入同一收豆杯</a:t>
            </a:r>
            <a:endParaRPr lang="zh-CN" sz="1728" b="0"/>
          </a:p>
        </p:txBody>
      </p:sp>
      <p:cxnSp>
        <p:nvCxnSpPr>
          <p:cNvPr id="35" name="连接线 35"/>
          <p:cNvCxnSpPr/>
          <p:nvPr/>
        </p:nvCxnSpPr>
        <p:spPr>
          <a:xfrm>
            <a:off x="9034272" y="5084064"/>
            <a:ext cx="0" cy="356616"/>
          </a:xfrm>
          <a:prstGeom prst="line">
            <a:avLst/>
          </a:prstGeom>
          <a:ln w="18288">
            <a:solidFill>
              <a:srgbClr val="AA6846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模块 36"/>
          <p:cNvSpPr/>
          <p:nvPr/>
        </p:nvSpPr>
        <p:spPr>
          <a:xfrm>
            <a:off x="7534656" y="5550408"/>
            <a:ext cx="6437376" cy="905256"/>
          </a:xfrm>
          <a:prstGeom prst="roundRect">
            <a:avLst>
              <a:gd name="adj" fmla="val 5000"/>
            </a:avLst>
          </a:prstGeom>
          <a:solidFill>
            <a:srgbClr val="F1E5D7"/>
          </a:solidFill>
          <a:ln>
            <a:noFill/>
          </a:ln>
        </p:spPr>
      </p:sp>
      <p:sp>
        <p:nvSpPr>
          <p:cNvPr id="37" name="异常待复核，人工暂停投豆"/>
          <p:cNvSpPr txBox="1"/>
          <p:nvPr/>
        </p:nvSpPr>
        <p:spPr>
          <a:xfrm>
            <a:off x="7744968" y="5660136"/>
            <a:ext cx="6016752" cy="3474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>
                <a:solidFill>
                  <a:srgbClr val="AA6846"/>
                </a:solidFill>
                <a:latin typeface="Heiti SC"/>
                <a:ea typeface="Heiti SC"/>
                <a:cs typeface="Heiti SC"/>
              </a:rPr>
              <a:t>异常待复核，人工暂停投豆</a:t>
            </a:r>
            <a:endParaRPr lang="zh-CN" sz="1944" b="1"/>
          </a:p>
        </p:txBody>
      </p:sp>
      <p:sp>
        <p:nvSpPr>
          <p:cNvPr id="38" name="缺图、糊图、多豆或配对不明"/>
          <p:cNvSpPr txBox="1"/>
          <p:nvPr/>
        </p:nvSpPr>
        <p:spPr>
          <a:xfrm>
            <a:off x="7744968" y="6062472"/>
            <a:ext cx="6016752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>
                <a:solidFill>
                  <a:srgbClr val="AA6846"/>
                </a:solidFill>
                <a:latin typeface="Heiti SC"/>
                <a:ea typeface="Heiti SC"/>
                <a:cs typeface="Heiti SC"/>
              </a:rPr>
              <a:t>缺图、糊图、多豆或配对不明</a:t>
            </a:r>
            <a:endParaRPr lang="zh-CN" sz="1656" b="0"/>
          </a:p>
        </p:txBody>
      </p:sp>
      <p:cxnSp>
        <p:nvCxnSpPr>
          <p:cNvPr id="39" name="连接线 39"/>
          <p:cNvCxnSpPr/>
          <p:nvPr/>
        </p:nvCxnSpPr>
        <p:spPr>
          <a:xfrm>
            <a:off x="658368" y="6903720"/>
            <a:ext cx="13313664" cy="0"/>
          </a:xfrm>
          <a:prstGeom prst="line">
            <a:avLst/>
          </a:prstGeom>
          <a:ln w="9144">
            <a:solidFill>
              <a:srgbClr val="B6C1B9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供电支持"/>
          <p:cNvSpPr txBox="1"/>
          <p:nvPr/>
        </p:nvSpPr>
        <p:spPr>
          <a:xfrm>
            <a:off x="658368" y="7123176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>
                <a:solidFill>
                  <a:srgbClr val="68776E"/>
                </a:solidFill>
                <a:latin typeface="Heiti SC"/>
                <a:ea typeface="Heiti SC"/>
                <a:cs typeface="Heiti SC"/>
              </a:rPr>
              <a:t>供电支持</a:t>
            </a:r>
            <a:endParaRPr lang="zh-CN" sz="1656" b="1"/>
          </a:p>
        </p:txBody>
      </p:sp>
      <p:sp>
        <p:nvSpPr>
          <p:cNvPr id="41" name="24V 电源"/>
          <p:cNvSpPr txBox="1"/>
          <p:nvPr/>
        </p:nvSpPr>
        <p:spPr>
          <a:xfrm>
            <a:off x="2359152" y="7123176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>
                <a:solidFill>
                  <a:srgbClr val="203D35"/>
                </a:solidFill>
                <a:latin typeface="Heiti SC"/>
                <a:ea typeface="Heiti SC"/>
                <a:cs typeface="Heiti SC"/>
              </a:rPr>
              <a:t>24V 电源</a:t>
            </a:r>
            <a:endParaRPr lang="zh-CN" sz="1728" b="0"/>
          </a:p>
        </p:txBody>
      </p:sp>
      <p:cxnSp>
        <p:nvCxnSpPr>
          <p:cNvPr id="42" name="连接线 42"/>
          <p:cNvCxnSpPr/>
          <p:nvPr/>
        </p:nvCxnSpPr>
        <p:spPr>
          <a:xfrm>
            <a:off x="4123944" y="7278624"/>
            <a:ext cx="402336" cy="0"/>
          </a:xfrm>
          <a:prstGeom prst="line">
            <a:avLst/>
          </a:prstGeom>
          <a:ln w="18288">
            <a:solidFill>
              <a:srgbClr val="68776E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24V 灯带"/>
          <p:cNvSpPr txBox="1"/>
          <p:nvPr/>
        </p:nvSpPr>
        <p:spPr>
          <a:xfrm>
            <a:off x="4736592" y="7123176"/>
            <a:ext cx="1920240" cy="310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>
                <a:solidFill>
                  <a:srgbClr val="203D35"/>
                </a:solidFill>
                <a:latin typeface="Heiti SC"/>
                <a:ea typeface="Heiti SC"/>
                <a:cs typeface="Heiti SC"/>
              </a:rPr>
              <a:t>24V 灯带</a:t>
            </a:r>
            <a:endParaRPr lang="zh-CN" sz="1728" b="0"/>
          </a:p>
        </p:txBody>
      </p:sp>
      <p:sp>
        <p:nvSpPr>
          <p:cNvPr id="44" name="5V 降压供 BOX 与双摄"/>
          <p:cNvSpPr txBox="1"/>
          <p:nvPr/>
        </p:nvSpPr>
        <p:spPr>
          <a:xfrm>
            <a:off x="7845552" y="7123176"/>
            <a:ext cx="6126480" cy="310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>
                <a:solidFill>
                  <a:srgbClr val="203D35"/>
                </a:solidFill>
                <a:latin typeface="Heiti SC"/>
                <a:ea typeface="Heiti SC"/>
                <a:cs typeface="Heiti SC"/>
              </a:rPr>
              <a:t>5V 降压供 BOX 与双摄</a:t>
            </a:r>
            <a:endParaRPr lang="zh-CN" sz="1728" b="0"/>
          </a:p>
        </p:txBody>
      </p:sp>
      <p:sp>
        <p:nvSpPr>
          <p:cNvPr id="45" name="规划待验证：双摄落豆链路、近焦与曝光仍需实机验收。豆已落杯，异常提示用于停止下一次投豆。"/>
          <p:cNvSpPr txBox="1"/>
          <p:nvPr/>
        </p:nvSpPr>
        <p:spPr>
          <a:xfrm>
            <a:off x="658368" y="7754112"/>
            <a:ext cx="13313664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0">
                <a:solidFill>
                  <a:srgbClr val="68776E"/>
                </a:solidFill>
                <a:latin typeface="Heiti SC"/>
                <a:ea typeface="Heiti SC"/>
                <a:cs typeface="Heiti SC"/>
              </a:rPr>
              <a:t>规划待验证：双摄落豆链路、近焦与曝光仍需实机验收。豆已落杯，异常提示用于停止下一次投豆。</a:t>
            </a:r>
            <a:endParaRPr lang="zh-CN" sz="1368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anLens">
  <a:themeElements>
    <a:clrScheme name="BeanLens">
      <a:dk1>
        <a:srgbClr val="203D35"/>
      </a:dk1>
      <a:lt1>
        <a:srgbClr val="FFFFFF"/>
      </a:lt1>
      <a:dk2>
        <a:srgbClr val="214D40"/>
      </a:dk2>
      <a:lt2>
        <a:srgbClr val="F7F6F2"/>
      </a:lt2>
      <a:accent1>
        <a:srgbClr val="214D40"/>
      </a:accent1>
      <a:accent2>
        <a:srgbClr val="AA6846"/>
      </a:accent2>
      <a:accent3>
        <a:srgbClr val="798C79"/>
      </a:accent3>
      <a:accent4>
        <a:srgbClr val="B6C1B9"/>
      </a:accent4>
      <a:accent5>
        <a:srgbClr val="D9C8B2"/>
      </a:accent5>
      <a:accent6>
        <a:srgbClr val="6C898C"/>
      </a:accent6>
      <a:hlink>
        <a:srgbClr val="286F68"/>
      </a:hlink>
      <a:folHlink>
        <a:srgbClr val="735B83"/>
      </a:folHlink>
    </a:clrScheme>
    <a:fontScheme name="BeanLens">
      <a:majorFont>
        <a:latin typeface="Heiti SC"/>
        <a:ea typeface="Heiti SC"/>
        <a:cs typeface="Heiti SC"/>
      </a:majorFont>
      <a:minorFont>
        <a:latin typeface="Heiti SC"/>
        <a:ea typeface="Heiti SC"/>
        <a:cs typeface="Heiti SC"/>
      </a:minorFont>
    </a:fontScheme>
    <a:fmtScheme name="BeanLens">
      <a:fillStyleLst>
        <a:solidFill>
          <a:srgbClr val="FFFFFF"/>
        </a:solidFill>
        <a:solidFill>
          <a:srgbClr val="FFFFFF"/>
        </a:solidFill>
        <a:solidFill>
          <a:srgbClr val="FFFFFF"/>
        </a:solidFill>
      </a:fillStyleLst>
      <a:lnStyleLst>
        <a:ln w="9525">
          <a:solidFill>
            <a:srgbClr val="203D35"/>
          </a:solidFill>
        </a:ln>
        <a:ln w="19050">
          <a:solidFill>
            <a:srgbClr val="203D35"/>
          </a:solidFill>
        </a:ln>
        <a:ln w="28575">
          <a:solidFill>
            <a:srgbClr val="203D35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rgbClr val="FFFFFF"/>
        </a:solidFill>
        <a:solidFill>
          <a:srgbClr val="FFFFFF"/>
        </a:solidFill>
        <a:solidFill>
          <a:srgbClr val="FFFFFF"/>
        </a:solidFill>
      </a:bgFillStyleLst>
    </a:fmtScheme>
  </a:themeElements>
</a:theme>
</file>