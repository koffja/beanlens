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70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77433"/>
  </p:normalViewPr>
  <p:slideViewPr>
    <p:cSldViewPr snapToGrid="0">
      <p:cViewPr varScale="1">
        <p:scale>
          <a:sx n="94" d="100"/>
          <a:sy n="94" d="100"/>
        </p:scale>
        <p:origin x="1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月净现金流（万元，不含融资流入）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月净现金流</c:v>
          </c:tx>
          <c:spPr>
            <a:solidFill>
              <a:srgbClr val="6B5B73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C9C0CE"/>
              </a:solidFill>
            </c:spPr>
            <c:extLst>
              <c:ext xmlns:c16="http://schemas.microsoft.com/office/drawing/2014/chart" uri="{C3380CC4-5D6E-409C-BE32-E72D297353CC}">
                <c16:uniqueId val="{00000001-F663-BB40-8CB7-C6E3E152320F}"/>
              </c:ext>
            </c:extLst>
          </c:dPt>
          <c:dPt>
            <c:idx val="1"/>
            <c:invertIfNegative val="0"/>
            <c:bubble3D val="0"/>
            <c:spPr>
              <a:solidFill>
                <a:srgbClr val="C9C0CE"/>
              </a:solidFill>
            </c:spPr>
            <c:extLst>
              <c:ext xmlns:c16="http://schemas.microsoft.com/office/drawing/2014/chart" uri="{C3380CC4-5D6E-409C-BE32-E72D297353CC}">
                <c16:uniqueId val="{00000003-F663-BB40-8CB7-C6E3E152320F}"/>
              </c:ext>
            </c:extLst>
          </c:dPt>
          <c:dPt>
            <c:idx val="2"/>
            <c:invertIfNegative val="0"/>
            <c:bubble3D val="0"/>
            <c:spPr>
              <a:solidFill>
                <a:srgbClr val="C9C0CE"/>
              </a:solidFill>
            </c:spPr>
            <c:extLst>
              <c:ext xmlns:c16="http://schemas.microsoft.com/office/drawing/2014/chart" uri="{C3380CC4-5D6E-409C-BE32-E72D297353CC}">
                <c16:uniqueId val="{00000005-F663-BB40-8CB7-C6E3E152320F}"/>
              </c:ext>
            </c:extLst>
          </c:dPt>
          <c:dPt>
            <c:idx val="3"/>
            <c:invertIfNegative val="0"/>
            <c:bubble3D val="0"/>
            <c:spPr>
              <a:solidFill>
                <a:srgbClr val="C9C0CE"/>
              </a:solidFill>
            </c:spPr>
            <c:extLst>
              <c:ext xmlns:c16="http://schemas.microsoft.com/office/drawing/2014/chart" uri="{C3380CC4-5D6E-409C-BE32-E72D297353CC}">
                <c16:uniqueId val="{00000007-F663-BB40-8CB7-C6E3E152320F}"/>
              </c:ext>
            </c:extLst>
          </c:dPt>
          <c:dPt>
            <c:idx val="4"/>
            <c:invertIfNegative val="0"/>
            <c:bubble3D val="0"/>
            <c:spPr>
              <a:solidFill>
                <a:srgbClr val="C9C0CE"/>
              </a:solidFill>
            </c:spPr>
            <c:extLst>
              <c:ext xmlns:c16="http://schemas.microsoft.com/office/drawing/2014/chart" uri="{C3380CC4-5D6E-409C-BE32-E72D297353CC}">
                <c16:uniqueId val="{00000009-F663-BB40-8CB7-C6E3E152320F}"/>
              </c:ext>
            </c:extLst>
          </c:dPt>
          <c:dPt>
            <c:idx val="5"/>
            <c:invertIfNegative val="0"/>
            <c:bubble3D val="0"/>
            <c:spPr>
              <a:solidFill>
                <a:srgbClr val="C9C0CE"/>
              </a:solidFill>
            </c:spPr>
            <c:extLst>
              <c:ext xmlns:c16="http://schemas.microsoft.com/office/drawing/2014/chart" uri="{C3380CC4-5D6E-409C-BE32-E72D297353CC}">
                <c16:uniqueId val="{0000000B-F663-BB40-8CB7-C6E3E152320F}"/>
              </c:ext>
            </c:extLst>
          </c:dPt>
          <c:dPt>
            <c:idx val="6"/>
            <c:invertIfNegative val="0"/>
            <c:bubble3D val="0"/>
            <c:spPr>
              <a:solidFill>
                <a:srgbClr val="C9C0CE"/>
              </a:solidFill>
            </c:spPr>
            <c:extLst>
              <c:ext xmlns:c16="http://schemas.microsoft.com/office/drawing/2014/chart" uri="{C3380CC4-5D6E-409C-BE32-E72D297353CC}">
                <c16:uniqueId val="{0000000D-F663-BB40-8CB7-C6E3E152320F}"/>
              </c:ext>
            </c:extLst>
          </c:dPt>
          <c:dPt>
            <c:idx val="7"/>
            <c:invertIfNegative val="0"/>
            <c:bubble3D val="0"/>
            <c:spPr>
              <a:solidFill>
                <a:srgbClr val="C9C0CE"/>
              </a:solidFill>
            </c:spPr>
            <c:extLst>
              <c:ext xmlns:c16="http://schemas.microsoft.com/office/drawing/2014/chart" uri="{C3380CC4-5D6E-409C-BE32-E72D297353CC}">
                <c16:uniqueId val="{0000000F-F663-BB40-8CB7-C6E3E152320F}"/>
              </c:ext>
            </c:extLst>
          </c:dPt>
          <c:dPt>
            <c:idx val="8"/>
            <c:invertIfNegative val="0"/>
            <c:bubble3D val="0"/>
            <c:spPr>
              <a:solidFill>
                <a:srgbClr val="C9C0CE"/>
              </a:solidFill>
            </c:spPr>
            <c:extLst>
              <c:ext xmlns:c16="http://schemas.microsoft.com/office/drawing/2014/chart" uri="{C3380CC4-5D6E-409C-BE32-E72D297353CC}">
                <c16:uniqueId val="{00000011-F663-BB40-8CB7-C6E3E152320F}"/>
              </c:ext>
            </c:extLst>
          </c:dPt>
          <c:dPt>
            <c:idx val="9"/>
            <c:invertIfNegative val="0"/>
            <c:bubble3D val="0"/>
            <c:spPr>
              <a:solidFill>
                <a:srgbClr val="C9C0CE"/>
              </a:solidFill>
            </c:spPr>
            <c:extLst>
              <c:ext xmlns:c16="http://schemas.microsoft.com/office/drawing/2014/chart" uri="{C3380CC4-5D6E-409C-BE32-E72D297353CC}">
                <c16:uniqueId val="{00000013-F663-BB40-8CB7-C6E3E152320F}"/>
              </c:ext>
            </c:extLst>
          </c:dPt>
          <c:dPt>
            <c:idx val="10"/>
            <c:invertIfNegative val="0"/>
            <c:bubble3D val="0"/>
            <c:spPr>
              <a:solidFill>
                <a:srgbClr val="C9C0CE"/>
              </a:solidFill>
            </c:spPr>
            <c:extLst>
              <c:ext xmlns:c16="http://schemas.microsoft.com/office/drawing/2014/chart" uri="{C3380CC4-5D6E-409C-BE32-E72D297353CC}">
                <c16:uniqueId val="{00000015-F663-BB40-8CB7-C6E3E152320F}"/>
              </c:ext>
            </c:extLst>
          </c:dPt>
          <c:dPt>
            <c:idx val="11"/>
            <c:invertIfNegative val="0"/>
            <c:bubble3D val="0"/>
            <c:spPr>
              <a:solidFill>
                <a:srgbClr val="C9C0CE"/>
              </a:solidFill>
            </c:spPr>
            <c:extLst>
              <c:ext xmlns:c16="http://schemas.microsoft.com/office/drawing/2014/chart" uri="{C3380CC4-5D6E-409C-BE32-E72D297353CC}">
                <c16:uniqueId val="{00000017-F663-BB40-8CB7-C6E3E152320F}"/>
              </c:ext>
            </c:extLst>
          </c:dPt>
          <c:dPt>
            <c:idx val="12"/>
            <c:invertIfNegative val="0"/>
            <c:bubble3D val="0"/>
            <c:spPr>
              <a:solidFill>
                <a:srgbClr val="8E9F90"/>
              </a:solidFill>
            </c:spPr>
            <c:extLst>
              <c:ext xmlns:c16="http://schemas.microsoft.com/office/drawing/2014/chart" uri="{C3380CC4-5D6E-409C-BE32-E72D297353CC}">
                <c16:uniqueId val="{00000019-F663-BB40-8CB7-C6E3E152320F}"/>
              </c:ext>
            </c:extLst>
          </c:dPt>
          <c:dPt>
            <c:idx val="13"/>
            <c:invertIfNegative val="0"/>
            <c:bubble3D val="0"/>
            <c:spPr>
              <a:solidFill>
                <a:srgbClr val="8E9F90"/>
              </a:solidFill>
            </c:spPr>
            <c:extLst>
              <c:ext xmlns:c16="http://schemas.microsoft.com/office/drawing/2014/chart" uri="{C3380CC4-5D6E-409C-BE32-E72D297353CC}">
                <c16:uniqueId val="{0000001B-F663-BB40-8CB7-C6E3E152320F}"/>
              </c:ext>
            </c:extLst>
          </c:dPt>
          <c:dPt>
            <c:idx val="14"/>
            <c:invertIfNegative val="0"/>
            <c:bubble3D val="0"/>
            <c:spPr>
              <a:solidFill>
                <a:srgbClr val="8E9F90"/>
              </a:solidFill>
            </c:spPr>
            <c:extLst>
              <c:ext xmlns:c16="http://schemas.microsoft.com/office/drawing/2014/chart" uri="{C3380CC4-5D6E-409C-BE32-E72D297353CC}">
                <c16:uniqueId val="{0000001D-F663-BB40-8CB7-C6E3E152320F}"/>
              </c:ext>
            </c:extLst>
          </c:dPt>
          <c:dPt>
            <c:idx val="15"/>
            <c:invertIfNegative val="0"/>
            <c:bubble3D val="0"/>
            <c:spPr>
              <a:solidFill>
                <a:srgbClr val="8E9F90"/>
              </a:solidFill>
            </c:spPr>
            <c:extLst>
              <c:ext xmlns:c16="http://schemas.microsoft.com/office/drawing/2014/chart" uri="{C3380CC4-5D6E-409C-BE32-E72D297353CC}">
                <c16:uniqueId val="{0000001F-F663-BB40-8CB7-C6E3E152320F}"/>
              </c:ext>
            </c:extLst>
          </c:dPt>
          <c:dPt>
            <c:idx val="16"/>
            <c:invertIfNegative val="0"/>
            <c:bubble3D val="0"/>
            <c:spPr>
              <a:solidFill>
                <a:srgbClr val="8E9F90"/>
              </a:solidFill>
            </c:spPr>
            <c:extLst>
              <c:ext xmlns:c16="http://schemas.microsoft.com/office/drawing/2014/chart" uri="{C3380CC4-5D6E-409C-BE32-E72D297353CC}">
                <c16:uniqueId val="{00000021-F663-BB40-8CB7-C6E3E152320F}"/>
              </c:ext>
            </c:extLst>
          </c:dPt>
          <c:dPt>
            <c:idx val="17"/>
            <c:invertIfNegative val="0"/>
            <c:bubble3D val="0"/>
            <c:spPr>
              <a:solidFill>
                <a:srgbClr val="8E9F90"/>
              </a:solidFill>
            </c:spPr>
            <c:extLst>
              <c:ext xmlns:c16="http://schemas.microsoft.com/office/drawing/2014/chart" uri="{C3380CC4-5D6E-409C-BE32-E72D297353CC}">
                <c16:uniqueId val="{00000023-F663-BB40-8CB7-C6E3E152320F}"/>
              </c:ext>
            </c:extLst>
          </c:dPt>
          <c:dLbls>
            <c:dLbl>
              <c:idx val="12"/>
              <c:spPr/>
              <c:txPr>
                <a:bodyPr anchorCtr="1"/>
                <a:lstStyle/>
                <a:p>
                  <a:pPr>
                    <a:defRPr sz="1350" b="1">
                      <a:solidFill>
                        <a:srgbClr val="8E9F90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F663-BB40-8CB7-C6E3E152320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Data'!$A$2:$A$19</c:f>
              <c:strCache>
                <c:ptCount val="18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  <c:pt idx="12">
                  <c:v>M13</c:v>
                </c:pt>
                <c:pt idx="13">
                  <c:v>M14</c:v>
                </c:pt>
                <c:pt idx="14">
                  <c:v>M15</c:v>
                </c:pt>
                <c:pt idx="15">
                  <c:v>M16</c:v>
                </c:pt>
                <c:pt idx="16">
                  <c:v>M17</c:v>
                </c:pt>
                <c:pt idx="17">
                  <c:v>M18</c:v>
                </c:pt>
              </c:strCache>
            </c:strRef>
          </c:cat>
          <c:val>
            <c:numRef>
              <c:f>'Chart Data'!$B$2:$B$19</c:f>
              <c:numCache>
                <c:formatCode>0.00</c:formatCode>
                <c:ptCount val="18"/>
                <c:pt idx="0">
                  <c:v>-3.5</c:v>
                </c:pt>
                <c:pt idx="1">
                  <c:v>-3.5</c:v>
                </c:pt>
                <c:pt idx="2">
                  <c:v>-11.65</c:v>
                </c:pt>
                <c:pt idx="3">
                  <c:v>-11.95</c:v>
                </c:pt>
                <c:pt idx="4">
                  <c:v>-13.95</c:v>
                </c:pt>
                <c:pt idx="5">
                  <c:v>-9.9499999999999993</c:v>
                </c:pt>
                <c:pt idx="6">
                  <c:v>-2.4</c:v>
                </c:pt>
                <c:pt idx="7">
                  <c:v>-2.4</c:v>
                </c:pt>
                <c:pt idx="8">
                  <c:v>-2.4</c:v>
                </c:pt>
                <c:pt idx="9">
                  <c:v>-2.4</c:v>
                </c:pt>
                <c:pt idx="10">
                  <c:v>-2.4</c:v>
                </c:pt>
                <c:pt idx="11">
                  <c:v>-2.4</c:v>
                </c:pt>
                <c:pt idx="12">
                  <c:v>2.8149999999999999</c:v>
                </c:pt>
                <c:pt idx="13">
                  <c:v>1.135</c:v>
                </c:pt>
                <c:pt idx="14">
                  <c:v>1.135</c:v>
                </c:pt>
                <c:pt idx="15">
                  <c:v>1.135</c:v>
                </c:pt>
                <c:pt idx="16">
                  <c:v>1.135</c:v>
                </c:pt>
                <c:pt idx="17">
                  <c:v>1.135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F663-BB40-8CB7-C6E3E15232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AD0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"/>
          <c:min val="-15"/>
        </c:scaling>
        <c:delete val="0"/>
        <c:axPos val="l"/>
        <c:majorGridlines>
          <c:spPr>
            <a:ln w="9525">
              <a:solidFill>
                <a:srgbClr val="E5DEE7"/>
              </a:solidFill>
              <a:prstDash val="solid"/>
            </a:ln>
          </c:spPr>
        </c:majorGridlines>
        <c:numFmt formatCode="0.0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endParaRPr lang="zh-CN"/>
          </a:p>
        </c:txPr>
        <c:crossAx val="48650112"/>
        <c:crosses val="autoZero"/>
        <c:crossBetween val="between"/>
        <c:majorUnit val="5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zh-CN" altLang="en-US"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单台价格与物料成本（元）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元/台</c:v>
          </c:tx>
          <c:spPr>
            <a:solidFill>
              <a:srgbClr val="6B5B73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D8D0DD"/>
              </a:solidFill>
            </c:spPr>
            <c:extLst>
              <c:ext xmlns:c16="http://schemas.microsoft.com/office/drawing/2014/chart" uri="{C3380CC4-5D6E-409C-BE32-E72D297353CC}">
                <c16:uniqueId val="{00000001-9B72-FA40-A68E-0F063BA3AF8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B72-FA40-A68E-0F063BA3AF86}"/>
              </c:ext>
            </c:extLst>
          </c:dPt>
          <c:dPt>
            <c:idx val="2"/>
            <c:invertIfNegative val="0"/>
            <c:bubble3D val="0"/>
            <c:spPr>
              <a:solidFill>
                <a:srgbClr val="8E9F90"/>
              </a:solidFill>
            </c:spPr>
            <c:extLst>
              <c:ext xmlns:c16="http://schemas.microsoft.com/office/drawing/2014/chart" uri="{C3380CC4-5D6E-409C-BE32-E72D297353CC}">
                <c16:uniqueId val="{00000005-9B72-FA40-A68E-0F063BA3AF86}"/>
              </c:ext>
            </c:extLst>
          </c:dPt>
          <c:dLbls>
            <c:numFmt formatCode="\¥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 b="1">
                    <a:solidFill>
                      <a:srgbClr val="62566B"/>
                    </a:solidFill>
                    <a:latin typeface="Hiragino Sans GB"/>
                    <a:ea typeface="Hiragino Sans GB"/>
                    <a:cs typeface="Hiragino Sans GB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量产 BOM</c:v>
                </c:pt>
                <c:pt idx="1">
                  <c:v>出厂价</c:v>
                </c:pt>
                <c:pt idx="2">
                  <c:v>终端参考价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420</c:v>
                </c:pt>
                <c:pt idx="1">
                  <c:v>1550</c:v>
                </c:pt>
                <c:pt idx="2">
                  <c:v>2680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B72-FA40-A68E-0F063BA3AF8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AD0D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00"/>
          <c:min val="0"/>
        </c:scaling>
        <c:delete val="0"/>
        <c:axPos val="l"/>
        <c:majorGridlines>
          <c:spPr>
            <a:ln w="9525">
              <a:solidFill>
                <a:srgbClr val="E5DEE7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endParaRPr lang="zh-CN"/>
          </a:p>
        </c:txPr>
        <c:crossAx val="48650112"/>
        <c:crosses val="autoZero"/>
        <c:crossBetween val="between"/>
        <c:majorUnit val="1000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建议讲述（15秒）</a:t>
            </a:r>
          </a:p>
          <a:p>
            <a:r>
              <a:t>大家好，我们的项目是豆鉴BeanLens，用双摄观察生豆两面，在设备端识别瑕疵，并把结果显示在电子屏上，辅助生豆收购和烘焙厂品控验收。</a:t>
            </a:r>
          </a:p>
          <a:p>
            <a:endParaRPr/>
          </a:p>
          <a:p>
            <a:r>
              <a:t>事实依据：双摄、K230D设备端识别、设备电子屏输出依据用户在本会话的直接确认。识别性能、单次投放量和耗时尚未完成实测，不在封面写60fps、准确性、固定批量或更快等结论。</a:t>
            </a:r>
          </a:p>
          <a:p>
            <a:r>
              <a:t>视觉素材：来自用户提供的豆鉴BeanLens路演_v3.pptx中ppt/slides/media/image1.png，原图右下明确带“AI生成 WORKBUDDY”标识，是生豆场景示意，不是样机或真实访谈照片。新封面保留可见的AI素材标识说明。图片仅调整页面裁切与位置，前景文字保持原生可编辑。</a:t>
            </a:r>
          </a:p>
          <a:p>
            <a:r>
              <a:t>原稿成员姓名尚未填写，此页不编造人名。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建议讲述（22秒）</a:t>
            </a:r>
          </a:p>
          <a:p>
            <a:r>
              <a:t>一批生豆送到收购现场，买方要判断收不收、什么价。人工先挑样，再核对瑕疵比例和类型。项目访谈中，挑350克样本大约需要15到30分钟。中小型用户希望检测工具既符合预算，也适合现场操作。</a:t>
            </a:r>
          </a:p>
          <a:p>
            <a:endParaRPr/>
          </a:p>
          <a:p>
            <a:r>
              <a:t>资料依据：/Users/weiwe/1折石/黑客松/美吉特灯都2号馆2_转写.md，00:00–01:51描述收购判断需要瑕疵比例和类型，03:55描述人工350g挑样至少15分钟、久时半小时，04:47描述上游对价格合适的设备感兴趣。15–30分钟为项目访谈经验，不是本项目独立计时实验，也不是行业统一耗时。</a:t>
            </a:r>
          </a:p>
          <a:p>
            <a:r>
              <a:t>采用门槛属于访谈所示的预算需求与本项目目标场景，不根据Csmart未知价格推断豆鉴已证实更便宜；现场操作可行性与量化性能仍待验证。</a:t>
            </a:r>
          </a:p>
          <a:p>
            <a:r>
              <a:t>图片：用户原路演ppt/slides/media/image4.png，原图带“AI生成 WORKBUDDY”，为人工挑豆场景示意。新页面明确保留AI素材说明，不当作项目现场、受访者身份或人工计时实测证据。</a:t>
            </a:r>
          </a:p>
          <a:p>
            <a:r>
              <a:t>原稿“速度与准确互斥”“漏检率高”“超线直接拒收”“验收均不留档”等绝对性或缺少统计证据的普遍结论不在新页沿用。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建议讲述（22秒）</a:t>
            </a:r>
          </a:p>
          <a:p>
            <a:r>
              <a:t>受访的云南保山禾木咖啡描述，他们从一吨生豆里取约500克样本，判断整批的瑕疵情况。上游访谈也给出了2000到3000元的采购意向。这是需求线索，接下来还要靠真实试用和成交验证。</a:t>
            </a:r>
          </a:p>
          <a:p>
            <a:endParaRPr/>
          </a:p>
          <a:p>
            <a:r>
              <a:t>依据与边界：</a:t>
            </a:r>
          </a:p>
          <a:p>
            <a:r>
              <a:t>/Users/weiwe/1折石/黑客松/美吉特灯都2号馆2_转写.md，02:20–02:48为云南豆商访谈抽样做法，04:47–05:02为上游采购兴趣与2,000–3,000元价格线索。原PPT第3页也含对应数字。</a:t>
            </a:r>
          </a:p>
          <a:p>
            <a:r>
              <a:t>500g/吨为受访者描述的做法，不是行业统一抽样规范，不是SCA的样本重量，也不是豆鉴单次投放量。受访者数量和完整访谈底稿未在现有材料中明确，不编造调查样本数。</a:t>
            </a:r>
          </a:p>
          <a:p>
            <a:r>
              <a:t>2,000–3,000元为访谈采购意向价格，不能写付费意愿已被成交验证，不代表已有订单或最终售价。</a:t>
            </a:r>
          </a:p>
          <a:p>
            <a:r>
              <a:t>原第3页“分级规则全球统一”“工具不在”“超线整批拒收”等概括不在新页沿用。当前已有Csmart同类产品，因此不以市场空白论证需求。不同用户可有不同采购条件，本项目输出用于辅助外观验收。</a:t>
            </a:r>
          </a:p>
          <a:p>
            <a:r>
              <a:t>该页使用访谈线索，不新增SCA具体阈值或最新标准版本结论，标准细节不替代客户真实采用验证。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市场调研与需求定位。团队观察：工业色选与大型分选主要面向生产线，采用时需要考虑采购、搬运和部署门槛。已有Csmart Digit等专业生豆分级产品，不能据此宣称市场没有竞品；专业产品的预算需要询价，不能用未公开价格推定其一定昂贵。项目访谈中人工挑样仍在使用，但这不等于已验证全行业占比。豆鉴优先验证中小型生豆收购与烘焙品控用户的桌面检测需求。相关专业产品资料：https://csmart.ai/；https://sucafina.com/na/news/faster-green-grading-with-csmart-digit。项目访谈支持人工挑样耗时与2000–3000元采购意向，意向尚非订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建议讲述（30秒）</a:t>
            </a:r>
          </a:p>
          <a:p>
            <a:r>
              <a:t>Csmart Digit已经证明了生豆自动分级的专业需求。它的公开规格是86乘54乘36厘米，重37千克，价格需要询价。豆鉴面向中小型收购与品控用户，先把双摄、设备端识别和屏幕结果集中到检测台上。我们的机会要靠预算、现场操作和试用结果来验证。</a:t>
            </a:r>
          </a:p>
          <a:p>
            <a:endParaRPr/>
          </a:p>
          <a:p>
            <a:r>
              <a:t>资料依据（核对日期2026-10-24）：https://csmart.ai/ 官网 Hardware、FAQ、Support plans：86×54×36 cm、37kg；采集、分析和报告运行在连接Digit的电脑上；以Request a proposal询价，未见公开货币报价。官网支持计划覆盖不同规模客户，不能推断仅服务巨头。https://sucafina.com/na/news/faster-green-grading-with-csmart-digit（2024-01-29）：输送带采集、逐豆图片和AI分类，Sucafina为少数股权投资者。Csmart是产品品牌，Sucafina并非制造商。竞品照片为用户本次提供，按原图完整嵌入。市场判断是依据项目访谈形成的定位假设，不宣称零竞品、唯一或已证实的市场空白。豆鉴屏幕结果和设备端运行由用户确认，意向价不代表订单，尺寸重量和性能仍待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建议讲述（34秒）</a:t>
            </a:r>
          </a:p>
          <a:p>
            <a:r>
              <a:t>投放豆子后，漏斗把豆子导入拍摄区。固定光源与遮光罩支持成像，两颗相向摄像头采集两面图像。K230D在设备端识别瑕疵，程序汇总比例，按SCA外观瑕疵规则计点，给出对应判定，最后在电子屏展示。单次投放多少豆、处理多快，还在测试。</a:t>
            </a:r>
          </a:p>
          <a:p>
            <a:endParaRPr/>
          </a:p>
          <a:p>
            <a:r>
              <a:t>资料来源：用户在本会话确认投放方式为一把或一批、数量尚在测试；识别运行在 K230D、四项结果均在电子屏显示，功能流程可演示。双摄及成像结构参考 BeanLens-H3-P6-manual-assembly-20261024.zip 和用户提供的 P7 技术图。本页不采用尚未统一的镜头间距、遮光片数量或接口引脚参数。屏幕是字段示意，不是实机截图。SCA 范围限于生豆外观瑕疵计点和判定。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建议讲述（20秒）</a:t>
            </a:r>
          </a:p>
          <a:p>
            <a:r>
              <a:t>电子屏会看到四项结果：瑕疵比例、瑕疵类型、SCA计点和外观判定。收购人员可以先了解样本的瑕疵情况，再结合验收要求判断。SCA相关结果只针对生豆外观瑕疵。</a:t>
            </a:r>
          </a:p>
          <a:p>
            <a:endParaRPr/>
          </a:p>
          <a:p>
            <a:r>
              <a:t>图片位置按用户要求暂留占位，后续替换为设备电子屏实拍或截图。四项输出能力依据用户在本会话中的确认；未填入示例百分比、点数、类型实例或通过状态。单次投放量与识别性能仍待测试确认。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建议讲述（28秒）</a:t>
            </a:r>
          </a:p>
          <a:p>
            <a:r>
              <a:t>赛前我们已有初步思路、访谈和部分器件。赛中把投豆、双摄采集、设备端识别和屏幕展示的实机流程跑通。AI参与编写检测程序，也支持交互式3D装配图、23张纸样、11页A3图册和59行物料表的整理，推动想法成为可装配、可演示的样机。</a:t>
            </a:r>
          </a:p>
          <a:p>
            <a:endParaRPr/>
          </a:p>
          <a:p>
            <a:r>
              <a:t>资料依据与边界：</a:t>
            </a:r>
          </a:p>
          <a:p>
            <a:r>
              <a:t>1. 整机流程已跑通、识别在 K230D 设备端运行、电子屏显示瑕疵比例、瑕疵类型、SCA 外观瑕疵计点与外观判定，均依据用户在本会话的直接确认。功能可演示不等于分类准确性已独立验证。</a:t>
            </a:r>
          </a:p>
          <a:p>
            <a:r>
              <a:t>2. 投放表述遵循用户更正：投放豆子，可一次一把或一批，具体数量仍在测试。没有写一次一颗或固定批量。</a:t>
            </a:r>
          </a:p>
          <a:p>
            <a:r>
              <a:t>3. 赛前基础为部分关键器件、豆商访谈和采购意向调研。按用户要求不列 TasterMatrix 平台，不将赛前基础归为赛中新增。</a:t>
            </a:r>
          </a:p>
          <a:p>
            <a:r>
              <a:t>4. 工程资料依据用户提供的 BeanLens-H3-P6 工程包：beanlens-assembly-p6.html 为交互装配资料；templates 目录共23份 SVG纸样；assembly-guide-p6.pdf 共11页 A3 图册；bom-p6.csv 扣除表头共59行物料记录。2026-10-24已核对文件数量。BOM行数不代表独立装机件数或生产数量。</a:t>
            </a:r>
          </a:p>
          <a:p>
            <a:r>
              <a:t>5. 不沿用旧版本9件打印件、14处连接、15张纸样、10页图册、78行BOM。工程资料中的几何或行程校验不替代实机准确性、吞吐、批量测试。</a:t>
            </a:r>
          </a:p>
          <a:p>
            <a:r>
              <a:t>6. 四天为比赛周期，赛中新增从10.22起归集，不将10.25未来的事项预写成已完成。单次投放量、识别准确性及端到端耗时仍待测试。SCA范围限生豆外观瑕疵。</a:t>
            </a:r>
          </a:p>
          <a:p>
            <a:r>
              <a:t>7. 左侧为真实样机全景或运行画面的预留位置，不使用工程渲染图伪装成实物证据。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建议讲述（20秒）</a:t>
            </a:r>
          </a:p>
          <a:p>
            <a:r>
              <a:t>当前已完成的是功能演示，性能指标仍待实测。这里保留了计划测试的投放量、样本量和耗时，最终以实际记录替换。我们会从投豆开始计时，直到电子屏显示本批结果，同时记录实际投放量。</a:t>
            </a:r>
          </a:p>
          <a:p>
            <a:endParaRPr/>
          </a:p>
          <a:p>
            <a:r>
              <a:t>事实与口径：</a:t>
            </a:r>
          </a:p>
          <a:p>
            <a:r>
              <a:t>1. 用户直接确认投豆、双摄采集、K230D端侧识别计点以及电子屏输出。四项输出是瑕疵比例、瑕疵类型、SCA外观瑕疵计点与外观判定，见第6页。SCA范围限生豆外观瑕疵，非完整咖啡品质认证。</a:t>
            </a:r>
          </a:p>
          <a:p>
            <a:r>
              <a:t>2. 用户明确性能未测并要求预留占位。表内所有下划线均为待填位置，不能当作测试结果。没有填写示例百分比、秒数、样本数或稳定批量。</a:t>
            </a:r>
          </a:p>
          <a:p>
            <a:r>
              <a:t>3. 允许一把或一批投放豆子，单次数量尚待测试。350g是完整测试样本的重量，不代表可以一次投放350g，也不是已经测得的吞吐能力。</a:t>
            </a:r>
          </a:p>
          <a:p>
            <a:r>
              <a:t>4. 独立测试样本按瑕疵类型记录人工标注和模型结果。与人工标注一致的颗数保留分子/分母，不将单一总体一致性包装为所有瑕疵类别的独立准确率。</a:t>
            </a:r>
          </a:p>
          <a:p>
            <a:r>
              <a:t>5. 单批耗时从投豆开始到屏幕显示本批结果结束，并同时记下投放量。完整350g样本耗时包含处理全部样本至最终结果的过程，不与单次投放耗时混用。具体测试尚未完成，方法是后续执行口径。</a:t>
            </a:r>
          </a:p>
          <a:p>
            <a:r>
              <a:t>6. 现有第6页为设备屏幕截图占位，第7页为实机全景占位，本页以可编辑表格记录测试结果，不再重复放置照片占位。</a:t>
            </a:r>
          </a:p>
          <a:p>
            <a:r>
              <a:t>资料依据：用户在本会话对设备运行位置、屏幕输出和未测状态的确认；/Users/weiwe/1折石/黑客松/PPT共创/豆鉴路演-逐页共创记录.md 第8页草案。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建议讲述（22秒）</a:t>
            </a:r>
          </a:p>
          <a:p>
            <a:r>
              <a:t>当前样机实际采购成本600元。下一步完成批量投豆测试，并推进收购端与烘焙厂试用，检验采购意向能否变成付费订单。量产还需要把装配、测试和售后等完整成本算进去。</a:t>
            </a:r>
          </a:p>
          <a:p>
            <a:endParaRPr/>
          </a:p>
          <a:p>
            <a:r>
              <a:t>资料依据与边界：</a:t>
            </a:r>
          </a:p>
          <a:p>
            <a:r>
              <a:t>1. 600元为用户在本会话直接确认的当前样机实际采购成本。它不是早期目标成本，也不是量产单位全成本。600元的确认适用于当前样机，没有进一步拆分各部件金额，页面不编造BOM费用明细。</a:t>
            </a:r>
          </a:p>
          <a:p>
            <a:r>
              <a:t>2. 2,000–3,000元来自原路演的上游访谈采购意向价。它不是已确认成交价、最终定价或实际订单，不与600元采购成本相减推导毛利。量产阶段仍须核算物料、装配、测试、售后、渠道与其他运营费用。</a:t>
            </a:r>
          </a:p>
          <a:p>
            <a:r>
              <a:t>3. 实机跑通和K230D设备端识别依据用户直接确认。用户更正投豆可一次一把或一批，具体数量待测；没有写一次一颗、固定批量或已测吞吐。</a:t>
            </a:r>
          </a:p>
          <a:p>
            <a:r>
              <a:t>4. 批量测试、客户试用和订单转化为接下来的行动，不表述为已经完成。性能占位与测试方法见第8页，商业销售情景见第10页。</a:t>
            </a:r>
          </a:p>
          <a:p>
            <a:r>
              <a:t>5. 左侧明确为当前样机真实照片占位，后续使用实物全景或装配细节照片。没有将工程渲染图包装成实物运行证据。</a:t>
            </a:r>
          </a:p>
          <a:p>
            <a:r>
              <a:t>6. 原稿中的旧舵机滑闸、9件打印件、云端按量费用等不作为当前成本或演示依据。未测性能、量产毛利与已实现回报不作推断。</a:t>
            </a:r>
          </a:p>
          <a:p>
            <a:r>
              <a:t>7. Csmart Digit未查到公开报价，本页没有据此声称豆鉴已证实比竞品便宜。</a:t>
            </a:r>
          </a:p>
          <a:p>
            <a:r>
              <a:t>共创文字依据：/Users/weiwe/1折石/黑客松/PPT共创/豆鉴路演-逐页共创记录.md 第9页草案。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建议讲述（30秒）</a:t>
            </a:r>
          </a:p>
          <a:p>
            <a:r>
              <a:rPr dirty="0"/>
              <a:t>我们希望把这次样机继续做成创业项目。原计划按自建产能规划90万元，其中50万用于验证期经营，40万用于产业化，设备与场地投入26.7万。按先试产、再放量的假设，M13月净现金流开始转正，稳定期约每月1.1万元。这里均是规划预测。</a:t>
            </a:r>
          </a:p>
          <a:p>
            <a:endParaRPr dirty="0"/>
          </a:p>
          <a:p>
            <a:r>
              <a:rPr dirty="0" err="1"/>
              <a:t>资金与现金流模型来源</a:t>
            </a:r>
            <a:r>
              <a:rPr dirty="0"/>
              <a:t>：/Users/</a:t>
            </a:r>
            <a:r>
              <a:rPr dirty="0" err="1"/>
              <a:t>weiwe</a:t>
            </a:r>
            <a:r>
              <a:rPr dirty="0"/>
              <a:t>/</a:t>
            </a:r>
            <a:r>
              <a:rPr dirty="0" err="1"/>
              <a:t>Workbuddy</a:t>
            </a:r>
            <a:r>
              <a:rPr dirty="0"/>
              <a:t>/2026-10-21-19-57-06/</a:t>
            </a:r>
            <a:r>
              <a:rPr dirty="0" err="1"/>
              <a:t>豆鉴BeanLens路演</a:t>
            </a:r>
            <a:r>
              <a:rPr dirty="0"/>
              <a:t>/豆鉴BeanLens商业计划测算_完整版含资本性支出.xlsx。保留自建产能口径，未使用另一份轻资产现金流工作簿。计划50万元于M1、40万元于M3投入，资本开支26.7万元，M3起租金0.45万元/月，固定经营支出3.5万元/月，M6首批备料5万元（100台），后续BOM420元/台，出厂价1550元/台。M7–12每月10台，M13后每月45台。现金流不含融资流入的逐月净额由原表输入、库存和付款时点重新推算，图中正负值共用同一比例尺，无原图正轴放大。M12现金最低21.1万元，M13首次月净现金流转正2.815万元，受使用原有库存影响；M14以后稳定1.135万元/</a:t>
            </a:r>
            <a:r>
              <a:rPr dirty="0" err="1"/>
              <a:t>月。未计包装、运费、税费、新增研发等，完整经营预算仍需更新。此页是预测，不是实际投产、融资或利润结果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建议讲述（28秒）</a:t>
            </a:r>
          </a:p>
          <a:p>
            <a:r>
              <a:rPr dirty="0"/>
              <a:t>整机销售模型假设出厂价1550元、量产BOM目标420元，单台BOM口径贡献1130元。按放量每月45台，18个月累计经营毛利预测约36.49万元，约为90万元规划投入的40.5%。</a:t>
            </a:r>
            <a:r>
              <a:rPr dirty="0" err="1"/>
              <a:t>它还没扣经营费用，实际盈利仍需成交和完整成本验证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来源</a:t>
            </a:r>
            <a:r>
              <a:rPr dirty="0"/>
              <a:t>：/Users/</a:t>
            </a:r>
            <a:r>
              <a:rPr dirty="0" err="1"/>
              <a:t>weiwe</a:t>
            </a:r>
            <a:r>
              <a:rPr dirty="0"/>
              <a:t>/</a:t>
            </a:r>
            <a:r>
              <a:rPr dirty="0" err="1"/>
              <a:t>Workbuddy</a:t>
            </a:r>
            <a:r>
              <a:rPr dirty="0"/>
              <a:t>/2026-10-21-19-57-06/</a:t>
            </a:r>
            <a:r>
              <a:rPr dirty="0" err="1"/>
              <a:t>豆鉴BeanLens路演</a:t>
            </a:r>
            <a:r>
              <a:rPr dirty="0"/>
              <a:t>/豆鉴BeanLens商业计划测算_完整版含资本性支出.xlsx。以上全部为预测和情景假设，非当前业绩。420元为量产物料BOM目标，1550元为出厂价假设，2500元为终端参考价，不等于访谈2000–3000元已成交。单台BOM口径边际贡献1130元，1130/1550=72.903%。未将该贡献率冒称全成本毛利率。18个月累计硬件收入51.15万元，累计物料采购14.66万元，期末无库存，按原现金物料口径累计经营毛利36.49万元。初始100台备料5万元比后续420元/台略高，已按原投入保留。36.49/90=40.544%，所以原图41%改为毛利/投入比，不能称净利润ROI。稳定销量45台/月，现金盈亏平衡35台/</a:t>
            </a:r>
            <a:r>
              <a:rPr dirty="0" err="1"/>
              <a:t>月；含折旧会计盈亏平衡ceil</a:t>
            </a:r>
            <a:r>
              <a:rPr dirty="0"/>
              <a:t>((3.5+0.45+0.633333)*10000/1130)=41台/</a:t>
            </a:r>
            <a:r>
              <a:rPr dirty="0" err="1"/>
              <a:t>月。模型原CVP公式存在单位换算重复，本次按统一元</a:t>
            </a:r>
            <a:r>
              <a:rPr dirty="0"/>
              <a:t>/台口径重算，没有修改来源工作簿。原图628台对应71万元局部固定投入，向上取整应为629台，也不等于覆盖全部90万元资金投入，不作为本页结论。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建议讲述（12秒）</a:t>
            </a:r>
          </a:p>
          <a:p>
            <a:r>
              <a:t>我们希望让中小型生豆商也用得起数字化验收工具，让每次验收都有可复核的记录。欢迎成为首批试用伙伴。谢谢。</a:t>
            </a:r>
          </a:p>
          <a:p>
            <a:endParaRPr/>
          </a:p>
          <a:p>
            <a:r>
              <a:t>收尾强调参加比赛后的创业路径与市场价值。现状是样机功能流程已跑通，下一步实测、客户试用、付费成交。可复核质量记录与数据资产是长期愿景，不能理解为现在已经具备批次档案、平台收入或稳定订单。客户首先是中小型生豆收购和烘焙厂品控，之后探索自烘焙门店、实验室和教学。原图1700/8000/300家数量缺少可核验出处，本页保留客户分层与扩展方向，暂不将这些数量作为已证实市场规模。现场投放豆子，批量和耗时待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F8981F-A965-4F7C-BC45-DEFDC52B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506970B-D301-49B2-AADE-785EB7212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7315685-1107-4411-B159-E3F184DD5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23999A9-A9A3-4CEB-8BCB-A6C940AE9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9E1A79C-7513-49D5-8B78-C28872C3C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5494BAB-5672-4880-AA5F-561FB11C1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5BBCEB7-6A15-4363-A75C-A2FD83E8D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5CA207D-6EDE-4469-8967-9AD4CCE6F2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9EE0458-99F6-420A-BAEB-ABD2581E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80DDBA3-BAD7-4A62-84F5-349C0B0ED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A3B96C60-26CD-AEF0-C4F5-8EFE67879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672"/>
          <a:stretch>
            <a:fillRect/>
          </a:stretch>
        </p:blipFill>
        <p:spPr>
          <a:xfrm>
            <a:off x="4462819" y="0"/>
            <a:ext cx="7729182" cy="6878119"/>
          </a:xfrm>
          <a:prstGeom prst="rect">
            <a:avLst/>
          </a:prstGeom>
        </p:spPr>
      </p:pic>
      <p:sp>
        <p:nvSpPr>
          <p:cNvPr id="100" name="紫色与生豆照片渐变融合"/>
          <p:cNvSpPr/>
          <p:nvPr/>
        </p:nvSpPr>
        <p:spPr>
          <a:xfrm>
            <a:off x="0" y="0"/>
            <a:ext cx="7400000" cy="6858000"/>
          </a:xfrm>
          <a:prstGeom prst="rect">
            <a:avLst/>
          </a:prstGeom>
          <a:gradFill>
            <a:gsLst>
              <a:gs pos="0">
                <a:srgbClr val="5A4B62">
                  <a:alpha val="100000"/>
                </a:srgbClr>
              </a:gs>
              <a:gs pos="52000">
                <a:srgbClr val="5A4B62">
                  <a:alpha val="100000"/>
                </a:srgbClr>
              </a:gs>
              <a:gs pos="72000">
                <a:srgbClr val="5A4B62">
                  <a:alpha val="72000"/>
                </a:srgbClr>
              </a:gs>
              <a:gs pos="100000">
                <a:srgbClr val="5A4B62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opening-event"/>
          <p:cNvSpPr>
            <a:spLocks noGrp="1"/>
          </p:cNvSpPr>
          <p:nvPr/>
        </p:nvSpPr>
        <p:spPr>
          <a:xfrm>
            <a:off x="609600" y="657225"/>
            <a:ext cx="621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buNone/>
              <a:defRPr sz="1800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rPr>
              <a:t>WTCC 2026 创客松</a:t>
            </a:r>
            <a:endParaRPr/>
          </a:p>
        </p:txBody>
      </p:sp>
      <p:sp>
        <p:nvSpPr>
          <p:cNvPr id="4" name="opening-track"/>
          <p:cNvSpPr>
            <a:spLocks noGrp="1"/>
          </p:cNvSpPr>
          <p:nvPr/>
        </p:nvSpPr>
        <p:spPr>
          <a:xfrm>
            <a:off x="609600" y="1047750"/>
            <a:ext cx="6210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buNone/>
              <a:defRPr sz="172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rPr>
              <a:t>LIVE 正在生活赛道</a:t>
            </a:r>
            <a:endParaRPr/>
          </a:p>
        </p:txBody>
      </p:sp>
      <p:sp>
        <p:nvSpPr>
          <p:cNvPr id="5" name="opening-project-name"/>
          <p:cNvSpPr>
            <a:spLocks noGrp="1"/>
          </p:cNvSpPr>
          <p:nvPr/>
        </p:nvSpPr>
        <p:spPr>
          <a:xfrm>
            <a:off x="609600" y="2000250"/>
            <a:ext cx="62103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7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buNone/>
              <a:defRPr sz="57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 dirty="0" err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豆鉴</a:t>
            </a:r>
            <a:r>
              <a:rPr sz="5700" b="1" dirty="0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5700" b="1" dirty="0" err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BeanLens</a:t>
            </a:r>
            <a:endParaRPr dirty="0"/>
          </a:p>
        </p:txBody>
      </p:sp>
      <p:sp>
        <p:nvSpPr>
          <p:cNvPr id="6" name="opening-message-1"/>
          <p:cNvSpPr>
            <a:spLocks noGrp="1"/>
          </p:cNvSpPr>
          <p:nvPr/>
        </p:nvSpPr>
        <p:spPr>
          <a:xfrm>
            <a:off x="609600" y="3276600"/>
            <a:ext cx="621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buNone/>
              <a:defRPr sz="33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 dirty="0" err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双</a:t>
            </a:r>
            <a:r>
              <a:rPr lang="zh-CN" altLang="en-US" sz="3300" b="1" dirty="0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摄</a:t>
            </a:r>
            <a:r>
              <a:rPr sz="3300" b="1" dirty="0" err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识别</a:t>
            </a:r>
            <a:r>
              <a:rPr lang="zh-CN" altLang="en-US" sz="3300" b="1" dirty="0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咖啡</a:t>
            </a:r>
            <a:r>
              <a:rPr sz="3300" b="1" dirty="0" err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生豆瑕疵</a:t>
            </a:r>
            <a:endParaRPr sz="3300" b="1" dirty="0">
              <a:solidFill>
                <a:srgbClr val="FAF6F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opening-message-2"/>
          <p:cNvSpPr>
            <a:spLocks noGrp="1"/>
          </p:cNvSpPr>
          <p:nvPr/>
        </p:nvSpPr>
        <p:spPr>
          <a:xfrm>
            <a:off x="609600" y="3905250"/>
            <a:ext cx="621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buNone/>
              <a:defRPr sz="33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3300" b="1" dirty="0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更高效确认收购价值</a:t>
            </a:r>
            <a:endParaRPr sz="3300" b="1" dirty="0">
              <a:solidFill>
                <a:srgbClr val="FAF6F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opening-mechanism"/>
          <p:cNvSpPr>
            <a:spLocks noGrp="1"/>
          </p:cNvSpPr>
          <p:nvPr/>
        </p:nvSpPr>
        <p:spPr>
          <a:xfrm>
            <a:off x="609600" y="4972050"/>
            <a:ext cx="621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D8D0D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>
              <a:defRPr sz="1875" b="0">
                <a:solidFill>
                  <a:srgbClr val="D8D0D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2000" b="1" dirty="0">
                <a:solidFill>
                  <a:srgbClr val="FAF6F0"/>
                </a:solidFill>
                <a:latin typeface="Hiragino Sans GB"/>
                <a:ea typeface="Hiragino Sans GB"/>
              </a:rPr>
              <a:t>队名：</a:t>
            </a:r>
            <a:r>
              <a:rPr lang="en" altLang="zh-CN" sz="2000" b="1" dirty="0">
                <a:solidFill>
                  <a:srgbClr val="FAF6F0"/>
                </a:solidFill>
                <a:latin typeface="Hiragino Sans GB"/>
                <a:ea typeface="Hiragino Sans GB"/>
              </a:rPr>
              <a:t> </a:t>
            </a:r>
            <a:r>
              <a:rPr lang="en" altLang="zh-CN" sz="2000" b="1" dirty="0" err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BeanLens</a:t>
            </a:r>
            <a:endParaRPr dirty="0"/>
          </a:p>
        </p:txBody>
      </p:sp>
      <p:sp>
        <p:nvSpPr>
          <p:cNvPr id="101" name="team-captain">
            <a:extLst>
              <a:ext uri="{FF2B5EF4-FFF2-40B4-BE49-F238E27FC236}">
                <a16:creationId xmlns:a16="http://schemas.microsoft.com/office/drawing/2014/main" id="{E41BD364-A11A-4F81-8DCB-F5DC5940F8E4}"/>
              </a:ext>
            </a:extLst>
          </p:cNvPr>
          <p:cNvSpPr>
            <a:spLocks noGrp="1"/>
          </p:cNvSpPr>
          <p:nvPr/>
        </p:nvSpPr>
        <p:spPr>
          <a:xfrm>
            <a:off x="609600" y="5424487"/>
            <a:ext cx="6477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00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dirty="0" err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队长：江承哲</a:t>
            </a:r>
            <a:r>
              <a:rPr lang="en-US" sz="1800" b="1" dirty="0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800" b="1" dirty="0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Bill</a:t>
            </a:r>
          </a:p>
        </p:txBody>
      </p:sp>
      <p:sp>
        <p:nvSpPr>
          <p:cNvPr id="102" name="team-captain-credentials">
            <a:extLst>
              <a:ext uri="{FF2B5EF4-FFF2-40B4-BE49-F238E27FC236}">
                <a16:creationId xmlns:a16="http://schemas.microsoft.com/office/drawing/2014/main" id="{735BE65B-BF99-47E4-9131-498E2B0B7F34}"/>
              </a:ext>
            </a:extLst>
          </p:cNvPr>
          <p:cNvSpPr>
            <a:spLocks noGrp="1"/>
          </p:cNvSpPr>
          <p:nvPr/>
        </p:nvSpPr>
        <p:spPr>
          <a:xfrm>
            <a:off x="542000" y="5810250"/>
            <a:ext cx="685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575" b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 dirty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rPr>
              <a:t>（</a:t>
            </a:r>
            <a:r>
              <a:rPr sz="1575" b="0" dirty="0" err="1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rPr>
              <a:t>世界首届咖啡烘焙大赛亚军</a:t>
            </a:r>
            <a:r>
              <a:rPr sz="1575" b="0" dirty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rPr>
              <a:t>/</a:t>
            </a:r>
            <a:r>
              <a:rPr sz="1575" b="0" dirty="0" err="1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rPr>
              <a:t>折石咖啡创始人</a:t>
            </a:r>
            <a:r>
              <a:rPr sz="1575" b="0" dirty="0">
                <a:solidFill>
                  <a:srgbClr val="E0D6D6"/>
                </a:solidFill>
                <a:latin typeface="Hiragino Sans GB"/>
                <a:ea typeface="Hiragino Sans GB"/>
                <a:cs typeface="Hiragino Sans GB"/>
              </a:rPr>
              <a:t>）</a:t>
            </a:r>
          </a:p>
        </p:txBody>
      </p:sp>
      <p:sp>
        <p:nvSpPr>
          <p:cNvPr id="103" name="team-members">
            <a:extLst>
              <a:ext uri="{FF2B5EF4-FFF2-40B4-BE49-F238E27FC236}">
                <a16:creationId xmlns:a16="http://schemas.microsoft.com/office/drawing/2014/main" id="{C14A8762-ABD7-4BE7-832C-724AC835D552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6858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725" b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dirty="0" err="1">
                <a:solidFill>
                  <a:srgbClr val="FAF6F0"/>
                </a:solidFill>
                <a:latin typeface="Hiragino Sans GB"/>
                <a:ea typeface="Hiragino Sans GB"/>
                <a:cs typeface="Hiragino Sans GB"/>
              </a:rPr>
              <a:t>队员：刘振东、王青杨、马蓝Lexi</a:t>
            </a:r>
            <a:endParaRPr sz="1725" b="1" dirty="0">
              <a:solidFill>
                <a:srgbClr val="FAF6F0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FBD99AA-5DA4-55E6-DD4C-41625FEB0A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746" y="6143391"/>
            <a:ext cx="766508" cy="71460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6589329-FA09-EC0F-0901-DB40FE0C26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397" y="6137090"/>
            <a:ext cx="615193" cy="698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BE9418E-9D79-9282-8033-C85253CD31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120" y="6198669"/>
            <a:ext cx="638530" cy="57534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E78818C-9C42-E2A4-5B79-8C2A4811E0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865" y="6163436"/>
            <a:ext cx="766508" cy="6786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roblem-brand">
            <a:extLst>
              <a:ext uri="{FF2B5EF4-FFF2-40B4-BE49-F238E27FC236}">
                <a16:creationId xmlns:a16="http://schemas.microsoft.com/office/drawing/2014/main" id="{38C93CB5-AEE9-43F9-92CF-DCE24AB52BF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豆鉴 BeanLens</a:t>
            </a:r>
          </a:p>
        </p:txBody>
      </p:sp>
      <p:sp>
        <p:nvSpPr>
          <p:cNvPr id="2" name="problem-title">
            <a:extLst>
              <a:ext uri="{FF2B5EF4-FFF2-40B4-BE49-F238E27FC236}">
                <a16:creationId xmlns:a16="http://schemas.microsoft.com/office/drawing/2014/main" id="{3B7D67CE-A763-4173-8819-3D6370BA746A}"/>
              </a:ext>
            </a:extLst>
          </p:cNvPr>
          <p:cNvSpPr>
            <a:spLocks noGrp="1"/>
          </p:cNvSpPr>
          <p:nvPr/>
        </p:nvSpPr>
        <p:spPr>
          <a:xfrm>
            <a:off x="609600" y="752475"/>
            <a:ext cx="109728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这批生豆，值不值得收？</a:t>
            </a:r>
          </a:p>
        </p:txBody>
      </p:sp>
      <p:sp>
        <p:nvSpPr>
          <p:cNvPr id="3" name="problem-subtitle">
            <a:extLst>
              <a:ext uri="{FF2B5EF4-FFF2-40B4-BE49-F238E27FC236}">
                <a16:creationId xmlns:a16="http://schemas.microsoft.com/office/drawing/2014/main" id="{F33C30CA-89D4-429B-96ED-194D5BFF7A87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面向中小型生豆收购商与烘焙厂品控</a:t>
            </a:r>
          </a:p>
        </p:txBody>
      </p:sp>
      <p:sp>
        <p:nvSpPr>
          <p:cNvPr id="4" name="problem-footer-rule">
            <a:extLst>
              <a:ext uri="{FF2B5EF4-FFF2-40B4-BE49-F238E27FC236}">
                <a16:creationId xmlns:a16="http://schemas.microsoft.com/office/drawing/2014/main" id="{BE393F99-675B-4767-99F8-31B328424CA8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0"/>
          </a:xfrm>
          <a:prstGeom prst="line">
            <a:avLst/>
          </a:prstGeom>
          <a:noFill/>
          <a:ln w="11430">
            <a:solidFill>
              <a:srgbClr val="DA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problem-footer">
            <a:extLst>
              <a:ext uri="{FF2B5EF4-FFF2-40B4-BE49-F238E27FC236}">
                <a16:creationId xmlns:a16="http://schemas.microsoft.com/office/drawing/2014/main" id="{2C624192-78A4-49D4-852B-ED644171D96F}"/>
              </a:ext>
            </a:extLst>
          </p:cNvPr>
          <p:cNvSpPr>
            <a:spLocks noGrp="1"/>
          </p:cNvSpPr>
          <p:nvPr/>
        </p:nvSpPr>
        <p:spPr>
          <a:xfrm>
            <a:off x="609600" y="6267450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人工耗时来自项目访谈，会随样本情况与操作者熟练程度变化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E736A3-3620-4D2F-BCBF-67B6F01300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074" b="24074"/>
          <a:stretch>
            <a:fillRect/>
          </a:stretch>
        </p:blipFill>
        <p:spPr>
          <a:xfrm>
            <a:off x="609600" y="2238375"/>
            <a:ext cx="4286250" cy="3333750"/>
          </a:xfrm>
          <a:prstGeom prst="roundRect">
            <a:avLst>
              <a:gd name="adj" fmla="val 4571"/>
            </a:avLst>
          </a:prstGeom>
        </p:spPr>
      </p:pic>
      <p:sp>
        <p:nvSpPr>
          <p:cNvPr id="8" name="problem-time">
            <a:extLst>
              <a:ext uri="{FF2B5EF4-FFF2-40B4-BE49-F238E27FC236}">
                <a16:creationId xmlns:a16="http://schemas.microsoft.com/office/drawing/2014/main" id="{91C5D77D-F0B4-4B46-AE5E-310ABCAA4549}"/>
              </a:ext>
            </a:extLst>
          </p:cNvPr>
          <p:cNvSpPr>
            <a:spLocks noGrp="1"/>
          </p:cNvSpPr>
          <p:nvPr/>
        </p:nvSpPr>
        <p:spPr>
          <a:xfrm>
            <a:off x="5372100" y="2143125"/>
            <a:ext cx="621030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42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42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42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42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42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42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42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42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42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42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42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15–30 分钟</a:t>
            </a:r>
          </a:p>
        </p:txBody>
      </p:sp>
      <p:sp>
        <p:nvSpPr>
          <p:cNvPr id="9" name="problem-time-definition">
            <a:extLst>
              <a:ext uri="{FF2B5EF4-FFF2-40B4-BE49-F238E27FC236}">
                <a16:creationId xmlns:a16="http://schemas.microsoft.com/office/drawing/2014/main" id="{CF83FBE8-59E9-459B-A444-EC253916444F}"/>
              </a:ext>
            </a:extLst>
          </p:cNvPr>
          <p:cNvSpPr>
            <a:spLocks noGrp="1"/>
          </p:cNvSpPr>
          <p:nvPr/>
        </p:nvSpPr>
        <p:spPr>
          <a:xfrm>
            <a:off x="5372100" y="2990850"/>
            <a:ext cx="6210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人工挑 350g 样本耗时</a:t>
            </a:r>
          </a:p>
        </p:txBody>
      </p:sp>
      <p:sp>
        <p:nvSpPr>
          <p:cNvPr id="10" name="problem-wait">
            <a:extLst>
              <a:ext uri="{FF2B5EF4-FFF2-40B4-BE49-F238E27FC236}">
                <a16:creationId xmlns:a16="http://schemas.microsoft.com/office/drawing/2014/main" id="{F2BA6CD4-5265-4D29-A081-1B9F5E8BFA3D}"/>
              </a:ext>
            </a:extLst>
          </p:cNvPr>
          <p:cNvSpPr>
            <a:spLocks noGrp="1"/>
          </p:cNvSpPr>
          <p:nvPr/>
        </p:nvSpPr>
        <p:spPr>
          <a:xfrm>
            <a:off x="5372100" y="3648075"/>
            <a:ext cx="6210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人工挑样耗时，现场判断要等结果</a:t>
            </a:r>
          </a:p>
        </p:txBody>
      </p:sp>
      <p:sp>
        <p:nvSpPr>
          <p:cNvPr id="11" name="problem-defect-types">
            <a:extLst>
              <a:ext uri="{FF2B5EF4-FFF2-40B4-BE49-F238E27FC236}">
                <a16:creationId xmlns:a16="http://schemas.microsoft.com/office/drawing/2014/main" id="{5B0BB6AA-564B-4E8A-A73F-D0C383A2BD94}"/>
              </a:ext>
            </a:extLst>
          </p:cNvPr>
          <p:cNvSpPr>
            <a:spLocks noGrp="1"/>
          </p:cNvSpPr>
          <p:nvPr/>
        </p:nvSpPr>
        <p:spPr>
          <a:xfrm>
            <a:off x="5372100" y="4371975"/>
            <a:ext cx="6210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收不收、什么价，要看生豆瑕疵比例与类型</a:t>
            </a:r>
          </a:p>
        </p:txBody>
      </p:sp>
      <p:sp>
        <p:nvSpPr>
          <p:cNvPr id="12" name="problem-adoption">
            <a:extLst>
              <a:ext uri="{FF2B5EF4-FFF2-40B4-BE49-F238E27FC236}">
                <a16:creationId xmlns:a16="http://schemas.microsoft.com/office/drawing/2014/main" id="{1BF17211-5112-4E5B-8B00-123F4725BB38}"/>
              </a:ext>
            </a:extLst>
          </p:cNvPr>
          <p:cNvSpPr>
            <a:spLocks noGrp="1"/>
          </p:cNvSpPr>
          <p:nvPr/>
        </p:nvSpPr>
        <p:spPr>
          <a:xfrm>
            <a:off x="5372100" y="5095875"/>
            <a:ext cx="6210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想要有一个快速、轻便、性价比合适的挑瑕疵设备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D99828-9F86-D6F5-84F0-E0218B5B79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22" t="1804" r="902" b="1578"/>
          <a:stretch/>
        </p:blipFill>
        <p:spPr>
          <a:xfrm>
            <a:off x="8840667" y="647700"/>
            <a:ext cx="3020514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vidence-brand">
            <a:extLst>
              <a:ext uri="{FF2B5EF4-FFF2-40B4-BE49-F238E27FC236}">
                <a16:creationId xmlns:a16="http://schemas.microsoft.com/office/drawing/2014/main" id="{44AA40F6-CFAB-4236-8425-2B53B31F577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豆鉴 BeanLens</a:t>
            </a:r>
          </a:p>
        </p:txBody>
      </p:sp>
      <p:sp>
        <p:nvSpPr>
          <p:cNvPr id="2" name="evidence-title">
            <a:extLst>
              <a:ext uri="{FF2B5EF4-FFF2-40B4-BE49-F238E27FC236}">
                <a16:creationId xmlns:a16="http://schemas.microsoft.com/office/drawing/2014/main" id="{F577BB00-97CB-4232-8599-C0FAD2F4A6C1}"/>
              </a:ext>
            </a:extLst>
          </p:cNvPr>
          <p:cNvSpPr>
            <a:spLocks noGrp="1"/>
          </p:cNvSpPr>
          <p:nvPr/>
        </p:nvSpPr>
        <p:spPr>
          <a:xfrm>
            <a:off x="609600" y="752475"/>
            <a:ext cx="109728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一线访谈里的需求线索</a:t>
            </a:r>
          </a:p>
        </p:txBody>
      </p:sp>
      <p:sp>
        <p:nvSpPr>
          <p:cNvPr id="3" name="evidence-subtitle">
            <a:extLst>
              <a:ext uri="{FF2B5EF4-FFF2-40B4-BE49-F238E27FC236}">
                <a16:creationId xmlns:a16="http://schemas.microsoft.com/office/drawing/2014/main" id="{152768EB-6C99-490F-8AF7-B37B51119B7F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抽样判断整批生豆，也需要符合采购预算的检测工具</a:t>
            </a:r>
          </a:p>
        </p:txBody>
      </p:sp>
      <p:sp>
        <p:nvSpPr>
          <p:cNvPr id="4" name="evidence-footer-rule">
            <a:extLst>
              <a:ext uri="{FF2B5EF4-FFF2-40B4-BE49-F238E27FC236}">
                <a16:creationId xmlns:a16="http://schemas.microsoft.com/office/drawing/2014/main" id="{C476FD7C-0314-4342-8D63-39330C05D4B8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0"/>
          </a:xfrm>
          <a:prstGeom prst="line">
            <a:avLst/>
          </a:prstGeom>
          <a:noFill/>
          <a:ln w="11430">
            <a:solidFill>
              <a:srgbClr val="DA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vidence-footer">
            <a:extLst>
              <a:ext uri="{FF2B5EF4-FFF2-40B4-BE49-F238E27FC236}">
                <a16:creationId xmlns:a16="http://schemas.microsoft.com/office/drawing/2014/main" id="{0B592370-9B7D-4771-A75E-5DA545B3119D}"/>
              </a:ext>
            </a:extLst>
          </p:cNvPr>
          <p:cNvSpPr>
            <a:spLocks noGrp="1"/>
          </p:cNvSpPr>
          <p:nvPr/>
        </p:nvSpPr>
        <p:spPr>
          <a:xfrm>
            <a:off x="609600" y="6267450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来源：项目访谈；访谈案例与意向不代表全行业情况</a:t>
            </a:r>
            <a:endParaRPr sz="1500" b="0" dirty="0">
              <a:solidFill>
                <a:srgbClr val="8B7D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evidence-sampling-source">
            <a:extLst>
              <a:ext uri="{FF2B5EF4-FFF2-40B4-BE49-F238E27FC236}">
                <a16:creationId xmlns:a16="http://schemas.microsoft.com/office/drawing/2014/main" id="{DBD4216E-60EA-4F28-8102-BD26451A4701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523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受访云南保山禾木咖啡描述的抽样方式</a:t>
            </a:r>
          </a:p>
        </p:txBody>
      </p:sp>
      <p:sp>
        <p:nvSpPr>
          <p:cNvPr id="7" name="evidence-sampling-value">
            <a:extLst>
              <a:ext uri="{FF2B5EF4-FFF2-40B4-BE49-F238E27FC236}">
                <a16:creationId xmlns:a16="http://schemas.microsoft.com/office/drawing/2014/main" id="{D692712D-E919-4BF8-9071-938A5B09B5CF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52387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42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42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42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42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42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42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42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42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42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42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42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约 500g / 吨</a:t>
            </a:r>
          </a:p>
        </p:txBody>
      </p:sp>
      <p:sp>
        <p:nvSpPr>
          <p:cNvPr id="8" name="evidence-sampling-meaning1">
            <a:extLst>
              <a:ext uri="{FF2B5EF4-FFF2-40B4-BE49-F238E27FC236}">
                <a16:creationId xmlns:a16="http://schemas.microsoft.com/office/drawing/2014/main" id="{D07FD6CE-332A-4EE7-8A8C-47DD07208629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5238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从一吨生豆中取约 500g 样本</a:t>
            </a:r>
          </a:p>
        </p:txBody>
      </p:sp>
      <p:sp>
        <p:nvSpPr>
          <p:cNvPr id="9" name="evidence-sampling-meaning2">
            <a:extLst>
              <a:ext uri="{FF2B5EF4-FFF2-40B4-BE49-F238E27FC236}">
                <a16:creationId xmlns:a16="http://schemas.microsoft.com/office/drawing/2014/main" id="{97632B44-BEBD-4EEB-9480-A6C8863A5492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238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判断这批豆子的瑕疵情况</a:t>
            </a:r>
          </a:p>
        </p:txBody>
      </p:sp>
      <p:sp>
        <p:nvSpPr>
          <p:cNvPr id="10" name="evidence-column-rule">
            <a:extLst>
              <a:ext uri="{FF2B5EF4-FFF2-40B4-BE49-F238E27FC236}">
                <a16:creationId xmlns:a16="http://schemas.microsoft.com/office/drawing/2014/main" id="{E7272196-BC1B-4A9C-81BC-E0328A51C67D}"/>
              </a:ext>
            </a:extLst>
          </p:cNvPr>
          <p:cNvSpPr>
            <a:spLocks noGrp="1"/>
          </p:cNvSpPr>
          <p:nvPr/>
        </p:nvSpPr>
        <p:spPr>
          <a:xfrm>
            <a:off x="6134100" y="2286000"/>
            <a:ext cx="0" cy="2524125"/>
          </a:xfrm>
          <a:prstGeom prst="line">
            <a:avLst/>
          </a:prstGeom>
          <a:noFill/>
          <a:ln w="11430">
            <a:solidFill>
              <a:srgbClr val="DA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evidence-price-source">
            <a:extLst>
              <a:ext uri="{FF2B5EF4-FFF2-40B4-BE49-F238E27FC236}">
                <a16:creationId xmlns:a16="http://schemas.microsoft.com/office/drawing/2014/main" id="{3C9AF13F-F8AF-43D1-B843-2AE6C1CAB9E9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5010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上游受访者给出的采购意向价</a:t>
            </a:r>
          </a:p>
        </p:txBody>
      </p:sp>
      <p:sp>
        <p:nvSpPr>
          <p:cNvPr id="12" name="evidence-price-value">
            <a:extLst>
              <a:ext uri="{FF2B5EF4-FFF2-40B4-BE49-F238E27FC236}">
                <a16:creationId xmlns:a16="http://schemas.microsoft.com/office/drawing/2014/main" id="{B8BA7E3A-EBAB-4FF7-986A-1FC83735B434}"/>
              </a:ext>
            </a:extLst>
          </p:cNvPr>
          <p:cNvSpPr>
            <a:spLocks noGrp="1"/>
          </p:cNvSpPr>
          <p:nvPr/>
        </p:nvSpPr>
        <p:spPr>
          <a:xfrm>
            <a:off x="6572250" y="2781300"/>
            <a:ext cx="50101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6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6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6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6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6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6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6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6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6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36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¥2,000–3,000</a:t>
            </a:r>
          </a:p>
        </p:txBody>
      </p:sp>
      <p:sp>
        <p:nvSpPr>
          <p:cNvPr id="13" name="evidence-price-meaning1">
            <a:extLst>
              <a:ext uri="{FF2B5EF4-FFF2-40B4-BE49-F238E27FC236}">
                <a16:creationId xmlns:a16="http://schemas.microsoft.com/office/drawing/2014/main" id="{9ECFF313-0081-4D45-87C3-36D6D3682BA1}"/>
              </a:ext>
            </a:extLst>
          </p:cNvPr>
          <p:cNvSpPr>
            <a:spLocks noGrp="1"/>
          </p:cNvSpPr>
          <p:nvPr/>
        </p:nvSpPr>
        <p:spPr>
          <a:xfrm>
            <a:off x="6572250" y="3829050"/>
            <a:ext cx="50101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价格合适时，愿意考虑采购</a:t>
            </a:r>
          </a:p>
        </p:txBody>
      </p:sp>
      <p:sp>
        <p:nvSpPr>
          <p:cNvPr id="14" name="evidence-price-meaning2">
            <a:extLst>
              <a:ext uri="{FF2B5EF4-FFF2-40B4-BE49-F238E27FC236}">
                <a16:creationId xmlns:a16="http://schemas.microsoft.com/office/drawing/2014/main" id="{48361A3C-EF0A-464B-BCEA-4DE5F5FA5173}"/>
              </a:ext>
            </a:extLst>
          </p:cNvPr>
          <p:cNvSpPr>
            <a:spLocks noGrp="1"/>
          </p:cNvSpPr>
          <p:nvPr/>
        </p:nvSpPr>
        <p:spPr>
          <a:xfrm>
            <a:off x="6572250" y="4286250"/>
            <a:ext cx="50101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实际成交与订单仍待验证</a:t>
            </a:r>
          </a:p>
        </p:txBody>
      </p:sp>
      <p:sp>
        <p:nvSpPr>
          <p:cNvPr id="15" name="evidence-next-validation">
            <a:extLst>
              <a:ext uri="{FF2B5EF4-FFF2-40B4-BE49-F238E27FC236}">
                <a16:creationId xmlns:a16="http://schemas.microsoft.com/office/drawing/2014/main" id="{D5F2E33C-6B98-49EB-BA50-B96D9D420527}"/>
              </a:ext>
            </a:extLst>
          </p:cNvPr>
          <p:cNvSpPr>
            <a:spLocks noGrp="1"/>
          </p:cNvSpPr>
          <p:nvPr/>
        </p:nvSpPr>
        <p:spPr>
          <a:xfrm>
            <a:off x="609600" y="5400675"/>
            <a:ext cx="1097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抽样需求与采购预算已有线索，下一步用实际试用检验</a:t>
            </a:r>
          </a:p>
        </p:txBody>
      </p:sp>
    </p:spTree>
    <p:extLst>
      <p:ext uri="{BB962C8B-B14F-4D97-AF65-F5344CB8AC3E}">
        <p14:creationId xmlns:p14="http://schemas.microsoft.com/office/powerpoint/2010/main" val="502929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market-brand">
            <a:extLst>
              <a:ext uri="{FF2B5EF4-FFF2-40B4-BE49-F238E27FC236}">
                <a16:creationId xmlns:a16="http://schemas.microsoft.com/office/drawing/2014/main" id="{0809E1FB-C166-405A-8367-F715319C9D6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豆鉴 BeanLens</a:t>
            </a:r>
          </a:p>
        </p:txBody>
      </p:sp>
      <p:sp>
        <p:nvSpPr>
          <p:cNvPr id="2" name="market-title">
            <a:extLst>
              <a:ext uri="{FF2B5EF4-FFF2-40B4-BE49-F238E27FC236}">
                <a16:creationId xmlns:a16="http://schemas.microsoft.com/office/drawing/2014/main" id="{198CC823-7538-4735-AC1F-CBB6F87AF76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市场调研：中小用户的</a:t>
            </a:r>
            <a:r>
              <a:rPr lang="zh-CN" altLang="en-US" sz="360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高效率</a:t>
            </a:r>
            <a:r>
              <a:rPr sz="3600" b="1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检测需求</a:t>
            </a:r>
            <a:r>
              <a:rPr lang="zh-CN" altLang="en-US" sz="360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存在</a:t>
            </a:r>
            <a:r>
              <a:rPr lang="zh-CN" altLang="en-US" sz="540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巨大</a:t>
            </a:r>
            <a:r>
              <a:rPr lang="zh-CN" altLang="en-US" sz="360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缺口！</a:t>
            </a:r>
            <a:endParaRPr sz="3600" b="1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market-subtitle">
            <a:extLst>
              <a:ext uri="{FF2B5EF4-FFF2-40B4-BE49-F238E27FC236}">
                <a16:creationId xmlns:a16="http://schemas.microsoft.com/office/drawing/2014/main" id="{082FAA9F-718B-4A0E-B4FA-67D46EF1B525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设备要用得起，也要适合收购现场</a:t>
            </a:r>
            <a:endParaRPr sz="2025" b="0" dirty="0">
              <a:solidFill>
                <a:srgbClr val="8B7D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existing-methods">
            <a:extLst>
              <a:ext uri="{FF2B5EF4-FFF2-40B4-BE49-F238E27FC236}">
                <a16:creationId xmlns:a16="http://schemas.microsoft.com/office/drawing/2014/main" id="{5668A9C7-DE63-45A4-96DC-439B0D42B676}"/>
              </a:ext>
            </a:extLst>
          </p:cNvPr>
          <p:cNvSpPr>
            <a:spLocks noGrp="1"/>
          </p:cNvSpPr>
          <p:nvPr/>
        </p:nvSpPr>
        <p:spPr>
          <a:xfrm>
            <a:off x="1181100" y="2066925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现有做法</a:t>
            </a:r>
          </a:p>
        </p:txBody>
      </p:sp>
      <p:sp>
        <p:nvSpPr>
          <p:cNvPr id="5" name="adoption-barriers">
            <a:extLst>
              <a:ext uri="{FF2B5EF4-FFF2-40B4-BE49-F238E27FC236}">
                <a16:creationId xmlns:a16="http://schemas.microsoft.com/office/drawing/2014/main" id="{0641E419-72E9-441A-878E-E8859F2BE6BB}"/>
              </a:ext>
            </a:extLst>
          </p:cNvPr>
          <p:cNvSpPr>
            <a:spLocks noGrp="1"/>
          </p:cNvSpPr>
          <p:nvPr/>
        </p:nvSpPr>
        <p:spPr>
          <a:xfrm>
            <a:off x="5219700" y="2066925"/>
            <a:ext cx="63627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现场采用门槛</a:t>
            </a:r>
          </a:p>
        </p:txBody>
      </p:sp>
      <p:sp>
        <p:nvSpPr>
          <p:cNvPr id="6" name="market-heading-rule">
            <a:extLst>
              <a:ext uri="{FF2B5EF4-FFF2-40B4-BE49-F238E27FC236}">
                <a16:creationId xmlns:a16="http://schemas.microsoft.com/office/drawing/2014/main" id="{6BFA0CC5-4193-4F7B-991D-BD90B5D24384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10972800" cy="9525"/>
          </a:xfrm>
          <a:prstGeom prst="rect">
            <a:avLst/>
          </a:prstGeom>
          <a:solidFill>
            <a:srgbClr val="DAD0D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market-number-01">
            <a:extLst>
              <a:ext uri="{FF2B5EF4-FFF2-40B4-BE49-F238E27FC236}">
                <a16:creationId xmlns:a16="http://schemas.microsoft.com/office/drawing/2014/main" id="{2186DF9E-DF36-4CFE-B744-A74574B70FA8}"/>
              </a:ext>
            </a:extLst>
          </p:cNvPr>
          <p:cNvSpPr>
            <a:spLocks noGrp="1"/>
          </p:cNvSpPr>
          <p:nvPr/>
        </p:nvSpPr>
        <p:spPr>
          <a:xfrm>
            <a:off x="609600" y="2733675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market-method-01">
            <a:extLst>
              <a:ext uri="{FF2B5EF4-FFF2-40B4-BE49-F238E27FC236}">
                <a16:creationId xmlns:a16="http://schemas.microsoft.com/office/drawing/2014/main" id="{088BB4CB-2CAF-4115-8F27-A673182C6395}"/>
              </a:ext>
            </a:extLst>
          </p:cNvPr>
          <p:cNvSpPr>
            <a:spLocks noGrp="1"/>
          </p:cNvSpPr>
          <p:nvPr/>
        </p:nvSpPr>
        <p:spPr>
          <a:xfrm>
            <a:off x="1181100" y="2733675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工业色选／大型分选</a:t>
            </a:r>
          </a:p>
        </p:txBody>
      </p:sp>
      <p:sp>
        <p:nvSpPr>
          <p:cNvPr id="9" name="market-observation-01">
            <a:extLst>
              <a:ext uri="{FF2B5EF4-FFF2-40B4-BE49-F238E27FC236}">
                <a16:creationId xmlns:a16="http://schemas.microsoft.com/office/drawing/2014/main" id="{DBE566FA-911F-449C-BC98-04387130CE82}"/>
              </a:ext>
            </a:extLst>
          </p:cNvPr>
          <p:cNvSpPr>
            <a:spLocks noGrp="1"/>
          </p:cNvSpPr>
          <p:nvPr/>
        </p:nvSpPr>
        <p:spPr>
          <a:xfrm>
            <a:off x="5219700" y="2638425"/>
            <a:ext cx="63627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面向产线，采购与搬运门槛较高</a:t>
            </a:r>
          </a:p>
        </p:txBody>
      </p:sp>
      <p:sp>
        <p:nvSpPr>
          <p:cNvPr id="10" name="market-observation-detail-01">
            <a:extLst>
              <a:ext uri="{FF2B5EF4-FFF2-40B4-BE49-F238E27FC236}">
                <a16:creationId xmlns:a16="http://schemas.microsoft.com/office/drawing/2014/main" id="{CECC34C2-06F9-4C49-AEBD-049B2AD370AB}"/>
              </a:ext>
            </a:extLst>
          </p:cNvPr>
          <p:cNvSpPr>
            <a:spLocks noGrp="1"/>
          </p:cNvSpPr>
          <p:nvPr/>
        </p:nvSpPr>
        <p:spPr>
          <a:xfrm>
            <a:off x="5219700" y="2990850"/>
            <a:ext cx="63627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小型用户需要更易采用的检测工具</a:t>
            </a:r>
          </a:p>
        </p:txBody>
      </p:sp>
      <p:sp>
        <p:nvSpPr>
          <p:cNvPr id="11" name="market-number-02">
            <a:extLst>
              <a:ext uri="{FF2B5EF4-FFF2-40B4-BE49-F238E27FC236}">
                <a16:creationId xmlns:a16="http://schemas.microsoft.com/office/drawing/2014/main" id="{E2052D57-A36A-4975-A6B2-0F7D83DE780E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market-method-02">
            <a:extLst>
              <a:ext uri="{FF2B5EF4-FFF2-40B4-BE49-F238E27FC236}">
                <a16:creationId xmlns:a16="http://schemas.microsoft.com/office/drawing/2014/main" id="{DDC1C008-10CA-4341-8ED4-49EEE90BD4E5}"/>
              </a:ext>
            </a:extLst>
          </p:cNvPr>
          <p:cNvSpPr>
            <a:spLocks noGrp="1"/>
          </p:cNvSpPr>
          <p:nvPr/>
        </p:nvSpPr>
        <p:spPr>
          <a:xfrm>
            <a:off x="1181100" y="3743325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专业生豆分级设备</a:t>
            </a:r>
          </a:p>
        </p:txBody>
      </p:sp>
      <p:sp>
        <p:nvSpPr>
          <p:cNvPr id="13" name="market-observation-02">
            <a:extLst>
              <a:ext uri="{FF2B5EF4-FFF2-40B4-BE49-F238E27FC236}">
                <a16:creationId xmlns:a16="http://schemas.microsoft.com/office/drawing/2014/main" id="{8B93E966-BAD2-4FE4-96F3-BA674586D208}"/>
              </a:ext>
            </a:extLst>
          </p:cNvPr>
          <p:cNvSpPr>
            <a:spLocks noGrp="1"/>
          </p:cNvSpPr>
          <p:nvPr/>
        </p:nvSpPr>
        <p:spPr>
          <a:xfrm>
            <a:off x="5219700" y="3648075"/>
            <a:ext cx="63627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已有</a:t>
            </a:r>
            <a:r>
              <a:rPr sz="2025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2025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Csmart</a:t>
            </a:r>
            <a:r>
              <a:rPr sz="2025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 Digit </a:t>
            </a:r>
            <a:r>
              <a:rPr sz="2025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等产品</a:t>
            </a:r>
            <a:endParaRPr sz="2025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market-observation-detail-02">
            <a:extLst>
              <a:ext uri="{FF2B5EF4-FFF2-40B4-BE49-F238E27FC236}">
                <a16:creationId xmlns:a16="http://schemas.microsoft.com/office/drawing/2014/main" id="{C9B3078B-5133-4E99-B070-2F0FA797AE4B}"/>
              </a:ext>
            </a:extLst>
          </p:cNvPr>
          <p:cNvSpPr>
            <a:spLocks noGrp="1"/>
          </p:cNvSpPr>
          <p:nvPr/>
        </p:nvSpPr>
        <p:spPr>
          <a:xfrm>
            <a:off x="5219700" y="4000500"/>
            <a:ext cx="63627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便携性</a:t>
            </a:r>
            <a:r>
              <a:rPr lang="zh-CN" altLang="en-US" sz="187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不佳（</a:t>
            </a:r>
            <a:r>
              <a:rPr lang="en-US" altLang="zh-CN" dirty="0"/>
              <a:t>37kg</a:t>
            </a:r>
            <a:r>
              <a:rPr lang="zh-CN" altLang="en-US" dirty="0"/>
              <a:t>）</a:t>
            </a:r>
            <a:r>
              <a:rPr lang="zh-CN" altLang="en-US" sz="187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，成本高（预估</a:t>
            </a:r>
            <a:r>
              <a:rPr lang="zh-CN" altLang="en-US" sz="1875" b="1" u="sng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万元</a:t>
            </a:r>
            <a:r>
              <a:rPr lang="zh-CN" altLang="en-US" sz="187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级别），信息隐晦</a:t>
            </a:r>
            <a:endParaRPr sz="1875" b="0" dirty="0">
              <a:solidFill>
                <a:srgbClr val="8B7D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market-number-03">
            <a:extLst>
              <a:ext uri="{FF2B5EF4-FFF2-40B4-BE49-F238E27FC236}">
                <a16:creationId xmlns:a16="http://schemas.microsoft.com/office/drawing/2014/main" id="{D2D1838A-FFA0-48D3-98BA-D4F368D4FE6D}"/>
              </a:ext>
            </a:extLst>
          </p:cNvPr>
          <p:cNvSpPr>
            <a:spLocks noGrp="1"/>
          </p:cNvSpPr>
          <p:nvPr/>
        </p:nvSpPr>
        <p:spPr>
          <a:xfrm>
            <a:off x="609600" y="4752975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BFA77B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6" name="market-method-03">
            <a:extLst>
              <a:ext uri="{FF2B5EF4-FFF2-40B4-BE49-F238E27FC236}">
                <a16:creationId xmlns:a16="http://schemas.microsoft.com/office/drawing/2014/main" id="{8236FCDA-44B0-4287-8EA8-70B6AA4328E7}"/>
              </a:ext>
            </a:extLst>
          </p:cNvPr>
          <p:cNvSpPr>
            <a:spLocks noGrp="1"/>
          </p:cNvSpPr>
          <p:nvPr/>
        </p:nvSpPr>
        <p:spPr>
          <a:xfrm>
            <a:off x="1181100" y="4752975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人工挑样</a:t>
            </a:r>
          </a:p>
        </p:txBody>
      </p:sp>
      <p:sp>
        <p:nvSpPr>
          <p:cNvPr id="17" name="market-observation-03">
            <a:extLst>
              <a:ext uri="{FF2B5EF4-FFF2-40B4-BE49-F238E27FC236}">
                <a16:creationId xmlns:a16="http://schemas.microsoft.com/office/drawing/2014/main" id="{262005FF-3A10-4E13-8D80-CFAF2F113858}"/>
              </a:ext>
            </a:extLst>
          </p:cNvPr>
          <p:cNvSpPr>
            <a:spLocks noGrp="1"/>
          </p:cNvSpPr>
          <p:nvPr/>
        </p:nvSpPr>
        <p:spPr>
          <a:xfrm>
            <a:off x="5219700" y="4657725"/>
            <a:ext cx="63627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0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dirty="0"/>
              <a:t>咖啡生豆</a:t>
            </a:r>
            <a:r>
              <a:rPr sz="2025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收购与烘焙</a:t>
            </a:r>
            <a:r>
              <a:rPr lang="zh-CN" altLang="en-US" sz="2025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工厂</a:t>
            </a:r>
            <a:r>
              <a:rPr sz="2025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场景仍在使用</a:t>
            </a:r>
            <a:endParaRPr sz="2025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market-observation-detail-03">
            <a:extLst>
              <a:ext uri="{FF2B5EF4-FFF2-40B4-BE49-F238E27FC236}">
                <a16:creationId xmlns:a16="http://schemas.microsoft.com/office/drawing/2014/main" id="{F86D3161-3062-442F-94C0-EB970F3DE0D2}"/>
              </a:ext>
            </a:extLst>
          </p:cNvPr>
          <p:cNvSpPr>
            <a:spLocks noGrp="1"/>
          </p:cNvSpPr>
          <p:nvPr/>
        </p:nvSpPr>
        <p:spPr>
          <a:xfrm>
            <a:off x="5219700" y="5010150"/>
            <a:ext cx="63627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检测结果需要等待人工挑样完成</a:t>
            </a:r>
            <a:r>
              <a:rPr lang="zh-CN" altLang="en-US" sz="187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，约</a:t>
            </a:r>
            <a:r>
              <a:rPr lang="en-US" altLang="zh-CN" sz="187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15</a:t>
            </a:r>
            <a:r>
              <a:rPr lang="zh-CN" altLang="en-US" sz="187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～</a:t>
            </a:r>
            <a:r>
              <a:rPr lang="en-US" altLang="zh-CN" sz="187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60</a:t>
            </a:r>
            <a:r>
              <a:rPr lang="zh-CN" altLang="en-US" sz="187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分钟</a:t>
            </a:r>
            <a:r>
              <a:rPr lang="en-US" altLang="zh-CN" sz="187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/350</a:t>
            </a:r>
            <a:r>
              <a:rPr lang="zh-CN" altLang="en-US" sz="187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克</a:t>
            </a:r>
            <a:endParaRPr sz="1875" b="0" dirty="0">
              <a:solidFill>
                <a:srgbClr val="8B7D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market-row-rule-1">
            <a:extLst>
              <a:ext uri="{FF2B5EF4-FFF2-40B4-BE49-F238E27FC236}">
                <a16:creationId xmlns:a16="http://schemas.microsoft.com/office/drawing/2014/main" id="{B5110500-F352-4315-BFDB-154303C398CD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10972800" cy="9525"/>
          </a:xfrm>
          <a:prstGeom prst="rect">
            <a:avLst/>
          </a:prstGeom>
          <a:solidFill>
            <a:srgbClr val="DAD0D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market-row-rule-2">
            <a:extLst>
              <a:ext uri="{FF2B5EF4-FFF2-40B4-BE49-F238E27FC236}">
                <a16:creationId xmlns:a16="http://schemas.microsoft.com/office/drawing/2014/main" id="{D84B2684-8CF7-4B28-96D9-1A8B66491CC7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10972800" cy="9525"/>
          </a:xfrm>
          <a:prstGeom prst="rect">
            <a:avLst/>
          </a:prstGeom>
          <a:solidFill>
            <a:srgbClr val="DAD0D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market-opportunity">
            <a:extLst>
              <a:ext uri="{FF2B5EF4-FFF2-40B4-BE49-F238E27FC236}">
                <a16:creationId xmlns:a16="http://schemas.microsoft.com/office/drawing/2014/main" id="{26093960-8ADF-4796-A136-2464B6E69DA2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豆鉴切入：中小型收购与烘焙品控的桌面检测</a:t>
            </a:r>
          </a:p>
        </p:txBody>
      </p:sp>
      <p:sp>
        <p:nvSpPr>
          <p:cNvPr id="22" name="market-footer-rule">
            <a:extLst>
              <a:ext uri="{FF2B5EF4-FFF2-40B4-BE49-F238E27FC236}">
                <a16:creationId xmlns:a16="http://schemas.microsoft.com/office/drawing/2014/main" id="{ABF52D16-A0B4-413E-897C-BCA425482E02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DAD0D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market-scope">
            <a:extLst>
              <a:ext uri="{FF2B5EF4-FFF2-40B4-BE49-F238E27FC236}">
                <a16:creationId xmlns:a16="http://schemas.microsoft.com/office/drawing/2014/main" id="{5850247B-C43C-4C1E-B507-009C4DABD188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依据团队调研及项目访谈</a:t>
            </a:r>
            <a:r>
              <a:rPr sz="1350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；</a:t>
            </a:r>
            <a:r>
              <a:rPr lang="zh-CN" altLang="en-US" sz="1350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轻量小型化且低进入门槛的产品迫切需要！</a:t>
            </a:r>
            <a:endParaRPr sz="1350" b="0" dirty="0">
              <a:solidFill>
                <a:srgbClr val="8B7D8B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762390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rand">
            <a:extLst>
              <a:ext uri="{FF2B5EF4-FFF2-40B4-BE49-F238E27FC236}">
                <a16:creationId xmlns:a16="http://schemas.microsoft.com/office/drawing/2014/main" id="{85F96BA1-AE40-436F-8637-F15F9F0640A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豆鉴 BeanLens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B265EAD-F94B-45EC-83B8-14551ABB730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豆鉴定位：中小型</a:t>
            </a:r>
            <a:r>
              <a:rPr lang="zh-CN" altLang="en-US" sz="360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咖啡</a:t>
            </a:r>
            <a:r>
              <a:rPr sz="3600" b="1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生豆</a:t>
            </a:r>
            <a:r>
              <a:rPr lang="zh-CN" altLang="en-US" sz="360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商</a:t>
            </a:r>
            <a:r>
              <a:rPr sz="3600" b="1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收购品控</a:t>
            </a:r>
            <a:r>
              <a:rPr lang="zh-CN" altLang="en-US" sz="360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的高效率伙伴</a:t>
            </a:r>
            <a:endParaRPr sz="3600" b="1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7593118-CF7E-4CB3-8553-D845D8D17464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202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虽</a:t>
            </a:r>
            <a:r>
              <a:rPr sz="2025" b="0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已有专业设备</a:t>
            </a:r>
            <a:r>
              <a:rPr sz="202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，</a:t>
            </a:r>
            <a:r>
              <a:rPr lang="zh-CN" altLang="en-US" sz="202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但依旧有庞大</a:t>
            </a:r>
            <a:r>
              <a:rPr sz="2025" b="0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机会在中小用户的</a:t>
            </a:r>
            <a:r>
              <a:rPr sz="2025" b="1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预算与现场使用门槛</a:t>
            </a:r>
            <a:endParaRPr sz="2025" b="1" dirty="0">
              <a:solidFill>
                <a:srgbClr val="8B7D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8858031A-2517-41A3-B88E-D57FCAF02F91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DAD0D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cope-note">
            <a:extLst>
              <a:ext uri="{FF2B5EF4-FFF2-40B4-BE49-F238E27FC236}">
                <a16:creationId xmlns:a16="http://schemas.microsoft.com/office/drawing/2014/main" id="{03CD7D97-03BB-4FDE-B4CC-F6D1987FD68A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资料：Csmart 官网、Sucafina；照片由团队提供。豆鉴性能及尺寸重量待测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767EB1-D907-43FF-A75C-A5ACABA4B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135219"/>
            <a:ext cx="4095750" cy="2301812"/>
          </a:xfrm>
          <a:prstGeom prst="rect">
            <a:avLst/>
          </a:prstGeom>
        </p:spPr>
      </p:pic>
      <p:sp>
        <p:nvSpPr>
          <p:cNvPr id="7" name="competitor-caption">
            <a:extLst>
              <a:ext uri="{FF2B5EF4-FFF2-40B4-BE49-F238E27FC236}">
                <a16:creationId xmlns:a16="http://schemas.microsoft.com/office/drawing/2014/main" id="{40E4EBF4-1310-460E-A187-38DFFCD76373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Csmart Digit 实拍参考</a:t>
            </a:r>
          </a:p>
        </p:txBody>
      </p:sp>
      <p:sp>
        <p:nvSpPr>
          <p:cNvPr id="8" name="market-position-1">
            <a:extLst>
              <a:ext uri="{FF2B5EF4-FFF2-40B4-BE49-F238E27FC236}">
                <a16:creationId xmlns:a16="http://schemas.microsoft.com/office/drawing/2014/main" id="{B048F8C6-A852-4793-993D-4AC151736CB4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访谈中，人工挑样仍在使用</a:t>
            </a:r>
            <a:endParaRPr sz="1725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market-position-2">
            <a:extLst>
              <a:ext uri="{FF2B5EF4-FFF2-40B4-BE49-F238E27FC236}">
                <a16:creationId xmlns:a16="http://schemas.microsoft.com/office/drawing/2014/main" id="{A1C69A0A-BD6C-438E-9F7A-E0EA62E641A1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豆鉴先做收购现场的样本检测</a:t>
            </a:r>
            <a:endParaRPr sz="1725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market-position-3">
            <a:extLst>
              <a:ext uri="{FF2B5EF4-FFF2-40B4-BE49-F238E27FC236}">
                <a16:creationId xmlns:a16="http://schemas.microsoft.com/office/drawing/2014/main" id="{ADB6E7F5-C7BD-47AC-B5D2-76A04608BACD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以试用验证预算、便携与操作</a:t>
            </a:r>
          </a:p>
        </p:txBody>
      </p:sp>
      <p:graphicFrame>
        <p:nvGraphicFramePr>
          <p:cNvPr id="11" name="market-comparison">
            <a:extLst>
              <a:ext uri="{FF2B5EF4-FFF2-40B4-BE49-F238E27FC236}">
                <a16:creationId xmlns:a16="http://schemas.microsoft.com/office/drawing/2014/main" id="{3E94FAC8-927C-475F-82AE-003FAD4C06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3618685"/>
              </p:ext>
            </p:extLst>
          </p:nvPr>
        </p:nvGraphicFramePr>
        <p:xfrm>
          <a:off x="5048250" y="2133600"/>
          <a:ext cx="6534150" cy="3600450"/>
        </p:xfrm>
        <a:graphic>
          <a:graphicData uri="http://schemas.openxmlformats.org/drawingml/2006/table">
            <a:tbl>
              <a:tblPr/>
              <a:tblGrid>
                <a:gridCol w="12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比较项目</a:t>
                      </a:r>
                    </a:p>
                  </a:txBody>
                  <a:tcPr marL="152400" marR="114300" marT="28575" marB="28575" anchor="ctr">
                    <a:lnL w="9525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>
                      <a:solidFill>
                        <a:srgbClr val="DAD0DC"/>
                      </a:solidFill>
                      <a:prstDash val="soli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6B5B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Csmart Digit</a:t>
                      </a:r>
                    </a:p>
                  </a:txBody>
                  <a:tcPr marL="152400" marR="114300" marT="28575" marB="28575" anchor="ctr">
                    <a:lnL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>
                      <a:solidFill>
                        <a:srgbClr val="DAD0DC"/>
                      </a:solidFill>
                      <a:prstDash val="soli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6B5B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豆鉴 BeanLens</a:t>
                      </a:r>
                    </a:p>
                  </a:txBody>
                  <a:tcPr marL="152400" marR="114300" marT="28575" marB="28575" anchor="ctr">
                    <a:lnL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>
                      <a:solidFill>
                        <a:srgbClr val="DAD0DC"/>
                      </a:solidFill>
                      <a:prstDash val="soli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6B5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采集识别</a:t>
                      </a:r>
                    </a:p>
                  </a:txBody>
                  <a:tcPr marL="152400" marR="114300" marT="28575" marB="28575" anchor="ctr">
                    <a:lnL w="9525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输送带采集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连接电脑分析</a:t>
                      </a:r>
                    </a:p>
                  </a:txBody>
                  <a:tcPr marL="152400" marR="114300" marT="28575" marB="28575" anchor="ctr">
                    <a:lnL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相向双摄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K230D 设备端识别</a:t>
                      </a:r>
                    </a:p>
                  </a:txBody>
                  <a:tcPr marL="152400" marR="114300" marT="28575" marB="28575" anchor="ctr">
                    <a:lnL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EE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结果呈现</a:t>
                      </a:r>
                    </a:p>
                  </a:txBody>
                  <a:tcPr marL="152400" marR="114300" marT="28575" marB="28575" anchor="ctr">
                    <a:lnL w="9525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分级报告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逐豆图像记录</a:t>
                      </a:r>
                    </a:p>
                  </a:txBody>
                  <a:tcPr marL="152400" marR="114300" marT="28575" marB="28575" anchor="ctr">
                    <a:lnL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电子屏展示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瑕疵统计与判定</a:t>
                      </a:r>
                    </a:p>
                  </a:txBody>
                  <a:tcPr marL="152400" marR="114300" marT="28575" marB="28575" anchor="ctr">
                    <a:lnL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EE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尺寸重量</a:t>
                      </a:r>
                    </a:p>
                  </a:txBody>
                  <a:tcPr marL="152400" marR="114300" marT="28575" marB="28575" anchor="ctr">
                    <a:lnL w="9525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86×54×36 cm</a:t>
                      </a:r>
                    </a:p>
                    <a:p>
                      <a:pPr algn="l"/>
                      <a:r>
                        <a:rPr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37 kg</a:t>
                      </a:r>
                    </a:p>
                  </a:txBody>
                  <a:tcPr marL="152400" marR="114300" marT="28575" marB="28575" anchor="ctr">
                    <a:lnL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46.5</a:t>
                      </a:r>
                      <a:r>
                        <a:rPr lang="zh-CN" altLang="en-US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 </a:t>
                      </a:r>
                      <a:r>
                        <a:rPr lang="en-US" altLang="zh-CN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</a:t>
                      </a:r>
                      <a:r>
                        <a:rPr lang="zh-CN" altLang="en-US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 </a:t>
                      </a:r>
                      <a:r>
                        <a:rPr lang="en-US" altLang="zh-CN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22</a:t>
                      </a:r>
                      <a:r>
                        <a:rPr lang="zh-CN" altLang="en-US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 </a:t>
                      </a:r>
                      <a:r>
                        <a:rPr lang="en-US" altLang="zh-CN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</a:t>
                      </a:r>
                      <a:r>
                        <a:rPr lang="zh-CN" altLang="en-US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 </a:t>
                      </a:r>
                      <a:r>
                        <a:rPr lang="en-US" altLang="zh-CN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24</a:t>
                      </a:r>
                      <a:r>
                        <a:rPr lang="en" altLang="zh-CN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cm</a:t>
                      </a:r>
                      <a:endParaRPr sz="1650" b="0" dirty="0">
                        <a:solidFill>
                          <a:srgbClr val="62566B"/>
                        </a:solidFill>
                        <a:latin typeface="Hiragino Sans GB"/>
                        <a:ea typeface="Hiragino Sans GB"/>
                        <a:cs typeface="Hiragino Sans GB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1.5</a:t>
                      </a:r>
                      <a:r>
                        <a:rPr lang="en" altLang="zh-CN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kg</a:t>
                      </a:r>
                    </a:p>
                  </a:txBody>
                  <a:tcPr marL="152400" marR="114300" marT="28575" marB="28575" anchor="ctr">
                    <a:lnL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EE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价格</a:t>
                      </a:r>
                    </a:p>
                  </a:txBody>
                  <a:tcPr marL="152400" marR="114300" marT="28575" marB="28575" anchor="ctr">
                    <a:lnL w="9525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需询价</a:t>
                      </a:r>
                      <a:endParaRPr sz="1650" b="0" dirty="0">
                        <a:solidFill>
                          <a:srgbClr val="62566B"/>
                        </a:solidFill>
                        <a:latin typeface="Hiragino Sans GB"/>
                        <a:ea typeface="Hiragino Sans GB"/>
                        <a:cs typeface="Hiragino Sans GB"/>
                      </a:endParaRPr>
                    </a:p>
                    <a:p>
                      <a:pPr algn="l"/>
                      <a:r>
                        <a:rPr sz="1650" b="0" dirty="0" err="1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未见公开报价</a:t>
                      </a:r>
                      <a:endParaRPr sz="1650" b="0" dirty="0">
                        <a:solidFill>
                          <a:srgbClr val="62566B"/>
                        </a:solidFill>
                        <a:latin typeface="Hiragino Sans GB"/>
                        <a:ea typeface="Hiragino Sans GB"/>
                        <a:cs typeface="Hiragino Sans GB"/>
                      </a:endParaRPr>
                    </a:p>
                  </a:txBody>
                  <a:tcPr marL="152400" marR="114300" marT="28575" marB="28575" anchor="ctr">
                    <a:lnL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¥2,000–3,000</a:t>
                      </a:r>
                    </a:p>
                    <a:p>
                      <a:pPr algn="l"/>
                      <a:r>
                        <a:rPr sz="1650" b="0" dirty="0" err="1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访谈采购意向价</a:t>
                      </a:r>
                      <a:endParaRPr sz="1650" b="0" dirty="0">
                        <a:solidFill>
                          <a:srgbClr val="62566B"/>
                        </a:solidFill>
                        <a:latin typeface="Hiragino Sans GB"/>
                        <a:ea typeface="Hiragino Sans GB"/>
                        <a:cs typeface="Hiragino Sans GB"/>
                      </a:endParaRPr>
                    </a:p>
                  </a:txBody>
                  <a:tcPr marL="152400" marR="114300" marT="28575" marB="28575" anchor="ctr">
                    <a:lnL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ap="flat" cmpd="sng" algn="ctr">
                      <a:solidFill>
                        <a:srgbClr val="DA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EE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105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brand">
            <a:extLst>
              <a:ext uri="{FF2B5EF4-FFF2-40B4-BE49-F238E27FC236}">
                <a16:creationId xmlns:a16="http://schemas.microsoft.com/office/drawing/2014/main" id="{2B7F6D70-9561-439D-985E-71B17FB3860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豆鉴 BeanLens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EB40F10-E84B-4346-BC82-77D6D37EFBD4}"/>
              </a:ext>
            </a:extLst>
          </p:cNvPr>
          <p:cNvSpPr>
            <a:spLocks noGrp="1"/>
          </p:cNvSpPr>
          <p:nvPr/>
        </p:nvSpPr>
        <p:spPr>
          <a:xfrm>
            <a:off x="609600" y="752475"/>
            <a:ext cx="10763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设备端检测架构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71D7963-44D8-49EF-AAB4-0371DA5B43B4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76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采集生豆两面图像，在设备端识别、统计与计点</a:t>
            </a:r>
          </a:p>
        </p:txBody>
      </p:sp>
      <p:sp>
        <p:nvSpPr>
          <p:cNvPr id="4" name="light-and-shield">
            <a:extLst>
              <a:ext uri="{FF2B5EF4-FFF2-40B4-BE49-F238E27FC236}">
                <a16:creationId xmlns:a16="http://schemas.microsoft.com/office/drawing/2014/main" id="{7AC45796-8310-493E-A77D-E0FEC5A31379}"/>
              </a:ext>
            </a:extLst>
          </p:cNvPr>
          <p:cNvSpPr>
            <a:spLocks noGrp="1"/>
          </p:cNvSpPr>
          <p:nvPr/>
        </p:nvSpPr>
        <p:spPr>
          <a:xfrm>
            <a:off x="2543175" y="2076450"/>
            <a:ext cx="1743075" cy="609600"/>
          </a:xfrm>
          <a:prstGeom prst="roundRect">
            <a:avLst>
              <a:gd name="adj" fmla="val 17188"/>
            </a:avLst>
          </a:prstGeom>
          <a:solidFill>
            <a:srgbClr val="F8F6F2"/>
          </a:solidFill>
          <a:ln w="13335">
            <a:solidFill>
              <a:srgbClr val="6D8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ight-label">
            <a:extLst>
              <a:ext uri="{FF2B5EF4-FFF2-40B4-BE49-F238E27FC236}">
                <a16:creationId xmlns:a16="http://schemas.microsoft.com/office/drawing/2014/main" id="{84BE62E6-8C8A-4D64-8025-7FFC7F25D25E}"/>
              </a:ext>
            </a:extLst>
          </p:cNvPr>
          <p:cNvSpPr>
            <a:spLocks noGrp="1"/>
          </p:cNvSpPr>
          <p:nvPr/>
        </p:nvSpPr>
        <p:spPr>
          <a:xfrm>
            <a:off x="2638425" y="2143125"/>
            <a:ext cx="15525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1500" b="1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rPr>
              <a:t>固定光源与遮光罩</a:t>
            </a:r>
          </a:p>
        </p:txBody>
      </p:sp>
      <p:sp>
        <p:nvSpPr>
          <p:cNvPr id="6" name="light-subtitle">
            <a:extLst>
              <a:ext uri="{FF2B5EF4-FFF2-40B4-BE49-F238E27FC236}">
                <a16:creationId xmlns:a16="http://schemas.microsoft.com/office/drawing/2014/main" id="{2F299255-C6F4-4ADB-A0A5-7AA5C1EF796C}"/>
              </a:ext>
            </a:extLst>
          </p:cNvPr>
          <p:cNvSpPr>
            <a:spLocks noGrp="1"/>
          </p:cNvSpPr>
          <p:nvPr/>
        </p:nvSpPr>
        <p:spPr>
          <a:xfrm>
            <a:off x="2647950" y="2390775"/>
            <a:ext cx="15335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为成像提供支持</a:t>
            </a:r>
          </a:p>
        </p:txBody>
      </p:sp>
      <p:sp>
        <p:nvSpPr>
          <p:cNvPr id="7" name="input-anchor">
            <a:extLst>
              <a:ext uri="{FF2B5EF4-FFF2-40B4-BE49-F238E27FC236}">
                <a16:creationId xmlns:a16="http://schemas.microsoft.com/office/drawing/2014/main" id="{32BD75AD-C688-43C3-AFF1-6B4E3D35FC95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1524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input-bean-0">
            <a:extLst>
              <a:ext uri="{FF2B5EF4-FFF2-40B4-BE49-F238E27FC236}">
                <a16:creationId xmlns:a16="http://schemas.microsoft.com/office/drawing/2014/main" id="{8C61494A-81C8-4D51-B3EC-98DF36F67C04}"/>
              </a:ext>
            </a:extLst>
          </p:cNvPr>
          <p:cNvSpPr>
            <a:spLocks noGrp="1"/>
          </p:cNvSpPr>
          <p:nvPr/>
        </p:nvSpPr>
        <p:spPr>
          <a:xfrm rot="-1380000">
            <a:off x="885825" y="3276600"/>
            <a:ext cx="171450" cy="114300"/>
          </a:xfrm>
          <a:prstGeom prst="ellipse">
            <a:avLst/>
          </a:prstGeom>
          <a:solidFill>
            <a:srgbClr val="6B5B7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input-bean-1">
            <a:extLst>
              <a:ext uri="{FF2B5EF4-FFF2-40B4-BE49-F238E27FC236}">
                <a16:creationId xmlns:a16="http://schemas.microsoft.com/office/drawing/2014/main" id="{24A74646-BC3B-45D3-8EEE-60BBC7C5BA44}"/>
              </a:ext>
            </a:extLst>
          </p:cNvPr>
          <p:cNvSpPr>
            <a:spLocks noGrp="1"/>
          </p:cNvSpPr>
          <p:nvPr/>
        </p:nvSpPr>
        <p:spPr>
          <a:xfrm rot="1080000">
            <a:off x="1209675" y="3190875"/>
            <a:ext cx="171450" cy="114300"/>
          </a:xfrm>
          <a:prstGeom prst="ellipse">
            <a:avLst/>
          </a:prstGeom>
          <a:solidFill>
            <a:srgbClr val="6B5B7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input-bean-2">
            <a:extLst>
              <a:ext uri="{FF2B5EF4-FFF2-40B4-BE49-F238E27FC236}">
                <a16:creationId xmlns:a16="http://schemas.microsoft.com/office/drawing/2014/main" id="{B94E7044-A05F-4A7A-A892-A0BA8E70FCA5}"/>
              </a:ext>
            </a:extLst>
          </p:cNvPr>
          <p:cNvSpPr>
            <a:spLocks noGrp="1"/>
          </p:cNvSpPr>
          <p:nvPr/>
        </p:nvSpPr>
        <p:spPr>
          <a:xfrm rot="-900000">
            <a:off x="1524000" y="3276600"/>
            <a:ext cx="171450" cy="114300"/>
          </a:xfrm>
          <a:prstGeom prst="ellipse">
            <a:avLst/>
          </a:prstGeom>
          <a:solidFill>
            <a:srgbClr val="6B5B7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input-funnel">
            <a:extLst>
              <a:ext uri="{FF2B5EF4-FFF2-40B4-BE49-F238E27FC236}">
                <a16:creationId xmlns:a16="http://schemas.microsoft.com/office/drawing/2014/main" id="{EA9E1FF8-CAE5-452F-AE16-B2CBCD0E1B8B}"/>
              </a:ext>
            </a:extLst>
          </p:cNvPr>
          <p:cNvSpPr>
            <a:spLocks noGrp="1"/>
          </p:cNvSpPr>
          <p:nvPr/>
        </p:nvSpPr>
        <p:spPr>
          <a:xfrm>
            <a:off x="866775" y="3524250"/>
            <a:ext cx="1000125" cy="676275"/>
          </a:xfrm>
          <a:custGeom>
            <a:avLst/>
            <a:gdLst/>
            <a:ahLst/>
            <a:cxnLst/>
            <a:rect l="0" t="0" r="0" b="0"/>
            <a:pathLst>
              <a:path w="1000125" h="676275">
                <a:moveTo>
                  <a:pt x="0" y="0"/>
                </a:moveTo>
                <a:lnTo>
                  <a:pt x="1000125" y="0"/>
                </a:lnTo>
                <a:lnTo>
                  <a:pt x="638175" y="428625"/>
                </a:lnTo>
                <a:lnTo>
                  <a:pt x="638175" y="676275"/>
                </a:lnTo>
                <a:lnTo>
                  <a:pt x="361950" y="676275"/>
                </a:lnTo>
                <a:lnTo>
                  <a:pt x="361950" y="428625"/>
                </a:lnTo>
                <a:lnTo>
                  <a:pt x="0" y="0"/>
                </a:lnTo>
              </a:path>
            </a:pathLst>
          </a:custGeom>
          <a:solidFill>
            <a:srgbClr val="EEE5D5"/>
          </a:solidFill>
          <a:ln w="19050">
            <a:solidFill>
              <a:srgbClr val="BFA7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input-title">
            <a:extLst>
              <a:ext uri="{FF2B5EF4-FFF2-40B4-BE49-F238E27FC236}">
                <a16:creationId xmlns:a16="http://schemas.microsoft.com/office/drawing/2014/main" id="{60C8DAC9-B8CB-467A-8001-6D5103FB5BA6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524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投放豆子</a:t>
            </a:r>
          </a:p>
        </p:txBody>
      </p:sp>
      <p:sp>
        <p:nvSpPr>
          <p:cNvPr id="13" name="input-caption">
            <a:extLst>
              <a:ext uri="{FF2B5EF4-FFF2-40B4-BE49-F238E27FC236}">
                <a16:creationId xmlns:a16="http://schemas.microsoft.com/office/drawing/2014/main" id="{A73E2F53-EA4A-4FA5-8245-4AFA79B55445}"/>
              </a:ext>
            </a:extLst>
          </p:cNvPr>
          <p:cNvSpPr>
            <a:spLocks noGrp="1"/>
          </p:cNvSpPr>
          <p:nvPr/>
        </p:nvSpPr>
        <p:spPr>
          <a:xfrm>
            <a:off x="561975" y="4810125"/>
            <a:ext cx="1619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经漏斗进入拍摄区</a:t>
            </a:r>
          </a:p>
        </p:txBody>
      </p:sp>
      <p:sp>
        <p:nvSpPr>
          <p:cNvPr id="14" name="dual-camera-node">
            <a:extLst>
              <a:ext uri="{FF2B5EF4-FFF2-40B4-BE49-F238E27FC236}">
                <a16:creationId xmlns:a16="http://schemas.microsoft.com/office/drawing/2014/main" id="{2A5925BB-F49F-47D9-BD8F-89EF582A9F61}"/>
              </a:ext>
            </a:extLst>
          </p:cNvPr>
          <p:cNvSpPr>
            <a:spLocks noGrp="1"/>
          </p:cNvSpPr>
          <p:nvPr/>
        </p:nvSpPr>
        <p:spPr>
          <a:xfrm>
            <a:off x="2543175" y="3057525"/>
            <a:ext cx="1743075" cy="1809750"/>
          </a:xfrm>
          <a:prstGeom prst="roundRect">
            <a:avLst>
              <a:gd name="adj" fmla="val 8743"/>
            </a:avLst>
          </a:prstGeom>
          <a:solidFill>
            <a:srgbClr val="E9EFF1"/>
          </a:solidFill>
          <a:ln w="17145">
            <a:solidFill>
              <a:srgbClr val="6D8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left-camera">
            <a:extLst>
              <a:ext uri="{FF2B5EF4-FFF2-40B4-BE49-F238E27FC236}">
                <a16:creationId xmlns:a16="http://schemas.microsoft.com/office/drawing/2014/main" id="{C85AEEC3-EF5E-4938-88D7-6F7BF4B1333C}"/>
              </a:ext>
            </a:extLst>
          </p:cNvPr>
          <p:cNvSpPr>
            <a:spLocks noGrp="1"/>
          </p:cNvSpPr>
          <p:nvPr/>
        </p:nvSpPr>
        <p:spPr>
          <a:xfrm>
            <a:off x="2714625" y="3476625"/>
            <a:ext cx="447675" cy="361950"/>
          </a:xfrm>
          <a:prstGeom prst="roundRect">
            <a:avLst>
              <a:gd name="adj" fmla="val 15789"/>
            </a:avLst>
          </a:prstGeom>
          <a:solidFill>
            <a:srgbClr val="B6AAB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left-camera-lens">
            <a:extLst>
              <a:ext uri="{FF2B5EF4-FFF2-40B4-BE49-F238E27FC236}">
                <a16:creationId xmlns:a16="http://schemas.microsoft.com/office/drawing/2014/main" id="{2C41DD1B-4016-4C90-B2FA-513A78873DF3}"/>
              </a:ext>
            </a:extLst>
          </p:cNvPr>
          <p:cNvSpPr>
            <a:spLocks noGrp="1"/>
          </p:cNvSpPr>
          <p:nvPr/>
        </p:nvSpPr>
        <p:spPr>
          <a:xfrm>
            <a:off x="3114675" y="3562350"/>
            <a:ext cx="95250" cy="190500"/>
          </a:xfrm>
          <a:prstGeom prst="roundRect">
            <a:avLst>
              <a:gd name="adj" fmla="val 30000"/>
            </a:avLst>
          </a:prstGeom>
          <a:solidFill>
            <a:srgbClr val="6B5B7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left-camera-detail">
            <a:extLst>
              <a:ext uri="{FF2B5EF4-FFF2-40B4-BE49-F238E27FC236}">
                <a16:creationId xmlns:a16="http://schemas.microsoft.com/office/drawing/2014/main" id="{B3E3773A-9508-4D41-AD63-571F09318ECB}"/>
              </a:ext>
            </a:extLst>
          </p:cNvPr>
          <p:cNvSpPr>
            <a:spLocks noGrp="1"/>
          </p:cNvSpPr>
          <p:nvPr/>
        </p:nvSpPr>
        <p:spPr>
          <a:xfrm>
            <a:off x="2828925" y="3571875"/>
            <a:ext cx="171450" cy="171450"/>
          </a:xfrm>
          <a:prstGeom prst="ellipse">
            <a:avLst/>
          </a:prstGeom>
          <a:solidFill>
            <a:srgbClr val="F8F6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ight-camera">
            <a:extLst>
              <a:ext uri="{FF2B5EF4-FFF2-40B4-BE49-F238E27FC236}">
                <a16:creationId xmlns:a16="http://schemas.microsoft.com/office/drawing/2014/main" id="{9985126E-28CC-4550-9208-5FEA73C77D4E}"/>
              </a:ext>
            </a:extLst>
          </p:cNvPr>
          <p:cNvSpPr>
            <a:spLocks noGrp="1"/>
          </p:cNvSpPr>
          <p:nvPr/>
        </p:nvSpPr>
        <p:spPr>
          <a:xfrm>
            <a:off x="3667125" y="3476625"/>
            <a:ext cx="447675" cy="361950"/>
          </a:xfrm>
          <a:prstGeom prst="roundRect">
            <a:avLst>
              <a:gd name="adj" fmla="val 15789"/>
            </a:avLst>
          </a:prstGeom>
          <a:solidFill>
            <a:srgbClr val="B6AAB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ight-camera-lens">
            <a:extLst>
              <a:ext uri="{FF2B5EF4-FFF2-40B4-BE49-F238E27FC236}">
                <a16:creationId xmlns:a16="http://schemas.microsoft.com/office/drawing/2014/main" id="{D272B942-5F66-43A6-8A82-DAEC4CF2A580}"/>
              </a:ext>
            </a:extLst>
          </p:cNvPr>
          <p:cNvSpPr>
            <a:spLocks noGrp="1"/>
          </p:cNvSpPr>
          <p:nvPr/>
        </p:nvSpPr>
        <p:spPr>
          <a:xfrm>
            <a:off x="3619500" y="3562350"/>
            <a:ext cx="95250" cy="190500"/>
          </a:xfrm>
          <a:prstGeom prst="roundRect">
            <a:avLst>
              <a:gd name="adj" fmla="val 30000"/>
            </a:avLst>
          </a:prstGeom>
          <a:solidFill>
            <a:srgbClr val="6B5B7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ight-camera-detail">
            <a:extLst>
              <a:ext uri="{FF2B5EF4-FFF2-40B4-BE49-F238E27FC236}">
                <a16:creationId xmlns:a16="http://schemas.microsoft.com/office/drawing/2014/main" id="{A36AD175-A47C-4EAA-ACEE-061F0C230BAE}"/>
              </a:ext>
            </a:extLst>
          </p:cNvPr>
          <p:cNvSpPr>
            <a:spLocks noGrp="1"/>
          </p:cNvSpPr>
          <p:nvPr/>
        </p:nvSpPr>
        <p:spPr>
          <a:xfrm>
            <a:off x="3819525" y="3571875"/>
            <a:ext cx="171450" cy="171450"/>
          </a:xfrm>
          <a:prstGeom prst="ellipse">
            <a:avLst/>
          </a:prstGeom>
          <a:solidFill>
            <a:srgbClr val="F8F6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camera-sightline">
            <a:extLst>
              <a:ext uri="{FF2B5EF4-FFF2-40B4-BE49-F238E27FC236}">
                <a16:creationId xmlns:a16="http://schemas.microsoft.com/office/drawing/2014/main" id="{C62C6820-C85F-428C-B04D-D6CA8C699751}"/>
              </a:ext>
            </a:extLst>
          </p:cNvPr>
          <p:cNvSpPr>
            <a:spLocks noGrp="1"/>
          </p:cNvSpPr>
          <p:nvPr/>
        </p:nvSpPr>
        <p:spPr>
          <a:xfrm>
            <a:off x="3257550" y="3648075"/>
            <a:ext cx="314325" cy="0"/>
          </a:xfrm>
          <a:prstGeom prst="line">
            <a:avLst/>
          </a:prstGeom>
          <a:noFill/>
          <a:ln w="14288">
            <a:solidFill>
              <a:srgbClr val="6D8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camera-title">
            <a:extLst>
              <a:ext uri="{FF2B5EF4-FFF2-40B4-BE49-F238E27FC236}">
                <a16:creationId xmlns:a16="http://schemas.microsoft.com/office/drawing/2014/main" id="{9D7A3B14-2478-406D-9E6F-98DD158AAE37}"/>
              </a:ext>
            </a:extLst>
          </p:cNvPr>
          <p:cNvSpPr>
            <a:spLocks noGrp="1"/>
          </p:cNvSpPr>
          <p:nvPr/>
        </p:nvSpPr>
        <p:spPr>
          <a:xfrm>
            <a:off x="2628900" y="4133850"/>
            <a:ext cx="1571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双摄成像</a:t>
            </a:r>
          </a:p>
        </p:txBody>
      </p:sp>
      <p:sp>
        <p:nvSpPr>
          <p:cNvPr id="23" name="camera-caption">
            <a:extLst>
              <a:ext uri="{FF2B5EF4-FFF2-40B4-BE49-F238E27FC236}">
                <a16:creationId xmlns:a16="http://schemas.microsoft.com/office/drawing/2014/main" id="{864613F8-74F8-48C3-9065-9A37362B9F4F}"/>
              </a:ext>
            </a:extLst>
          </p:cNvPr>
          <p:cNvSpPr>
            <a:spLocks noGrp="1"/>
          </p:cNvSpPr>
          <p:nvPr/>
        </p:nvSpPr>
        <p:spPr>
          <a:xfrm>
            <a:off x="2638425" y="4543425"/>
            <a:ext cx="15525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0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0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0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0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0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0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0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0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0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1650" b="0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D8894"/>
                </a:solidFill>
                <a:latin typeface="Hiragino Sans GB"/>
                <a:ea typeface="Hiragino Sans GB"/>
                <a:cs typeface="Hiragino Sans GB"/>
              </a:rPr>
              <a:t>GC2093 ×2</a:t>
            </a:r>
          </a:p>
        </p:txBody>
      </p:sp>
      <p:sp>
        <p:nvSpPr>
          <p:cNvPr id="24" name="device-boundary">
            <a:extLst>
              <a:ext uri="{FF2B5EF4-FFF2-40B4-BE49-F238E27FC236}">
                <a16:creationId xmlns:a16="http://schemas.microsoft.com/office/drawing/2014/main" id="{4520217A-A7E5-4AA7-92B2-ADFE5398F99B}"/>
              </a:ext>
            </a:extLst>
          </p:cNvPr>
          <p:cNvSpPr>
            <a:spLocks noGrp="1"/>
          </p:cNvSpPr>
          <p:nvPr/>
        </p:nvSpPr>
        <p:spPr>
          <a:xfrm>
            <a:off x="4667250" y="2743200"/>
            <a:ext cx="4429125" cy="2428875"/>
          </a:xfrm>
          <a:prstGeom prst="roundRect">
            <a:avLst>
              <a:gd name="adj" fmla="val 7059"/>
            </a:avLst>
          </a:prstGeom>
          <a:solidFill>
            <a:srgbClr val="EDE7EF"/>
          </a:solidFill>
          <a:ln w="17145">
            <a:solidFill>
              <a:srgbClr val="6B5B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evice-heading-bg">
            <a:extLst>
              <a:ext uri="{FF2B5EF4-FFF2-40B4-BE49-F238E27FC236}">
                <a16:creationId xmlns:a16="http://schemas.microsoft.com/office/drawing/2014/main" id="{4C0E6F83-81CF-440D-AE20-0D58B7C314FF}"/>
              </a:ext>
            </a:extLst>
          </p:cNvPr>
          <p:cNvSpPr>
            <a:spLocks noGrp="1"/>
          </p:cNvSpPr>
          <p:nvPr/>
        </p:nvSpPr>
        <p:spPr>
          <a:xfrm>
            <a:off x="4667250" y="2743200"/>
            <a:ext cx="4429125" cy="428625"/>
          </a:xfrm>
          <a:prstGeom prst="roundRect">
            <a:avLst>
              <a:gd name="adj" fmla="val 22222"/>
            </a:avLst>
          </a:prstGeom>
          <a:solidFill>
            <a:srgbClr val="6B5B73"/>
          </a:solidFill>
          <a:ln w="0">
            <a:solidFill>
              <a:srgbClr val="6B5B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device-heading">
            <a:extLst>
              <a:ext uri="{FF2B5EF4-FFF2-40B4-BE49-F238E27FC236}">
                <a16:creationId xmlns:a16="http://schemas.microsoft.com/office/drawing/2014/main" id="{A9E1C605-B272-4471-B90F-1AC42EE02D4B}"/>
              </a:ext>
            </a:extLst>
          </p:cNvPr>
          <p:cNvSpPr>
            <a:spLocks noGrp="1"/>
          </p:cNvSpPr>
          <p:nvPr/>
        </p:nvSpPr>
        <p:spPr>
          <a:xfrm>
            <a:off x="4876800" y="2800350"/>
            <a:ext cx="40100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K230D 设备端</a:t>
            </a:r>
          </a:p>
        </p:txBody>
      </p:sp>
      <p:sp>
        <p:nvSpPr>
          <p:cNvPr id="27" name="ai-classification">
            <a:extLst>
              <a:ext uri="{FF2B5EF4-FFF2-40B4-BE49-F238E27FC236}">
                <a16:creationId xmlns:a16="http://schemas.microsoft.com/office/drawing/2014/main" id="{57156881-E513-4E63-9DA8-01073B07F7E6}"/>
              </a:ext>
            </a:extLst>
          </p:cNvPr>
          <p:cNvSpPr>
            <a:spLocks noGrp="1"/>
          </p:cNvSpPr>
          <p:nvPr/>
        </p:nvSpPr>
        <p:spPr>
          <a:xfrm>
            <a:off x="4905375" y="3333750"/>
            <a:ext cx="1600200" cy="1676400"/>
          </a:xfrm>
          <a:prstGeom prst="roundRect">
            <a:avLst>
              <a:gd name="adj" fmla="val 7143"/>
            </a:avLst>
          </a:prstGeom>
          <a:solidFill>
            <a:srgbClr val="FCFAF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tatistics-and-rules">
            <a:extLst>
              <a:ext uri="{FF2B5EF4-FFF2-40B4-BE49-F238E27FC236}">
                <a16:creationId xmlns:a16="http://schemas.microsoft.com/office/drawing/2014/main" id="{187B5D48-EAF2-4B36-81C0-57AB10B11233}"/>
              </a:ext>
            </a:extLst>
          </p:cNvPr>
          <p:cNvSpPr>
            <a:spLocks noGrp="1"/>
          </p:cNvSpPr>
          <p:nvPr/>
        </p:nvSpPr>
        <p:spPr>
          <a:xfrm>
            <a:off x="7067550" y="3333750"/>
            <a:ext cx="1790700" cy="1676400"/>
          </a:xfrm>
          <a:prstGeom prst="roundRect">
            <a:avLst>
              <a:gd name="adj" fmla="val 6818"/>
            </a:avLst>
          </a:prstGeom>
          <a:solidFill>
            <a:srgbClr val="FCFAF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ai-title">
            <a:extLst>
              <a:ext uri="{FF2B5EF4-FFF2-40B4-BE49-F238E27FC236}">
                <a16:creationId xmlns:a16="http://schemas.microsoft.com/office/drawing/2014/main" id="{C03D3841-1614-42ED-A563-EE8B3D0A2792}"/>
              </a:ext>
            </a:extLst>
          </p:cNvPr>
          <p:cNvSpPr>
            <a:spLocks noGrp="1"/>
          </p:cNvSpPr>
          <p:nvPr/>
        </p:nvSpPr>
        <p:spPr>
          <a:xfrm>
            <a:off x="4981575" y="35242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AI 识别</a:t>
            </a:r>
          </a:p>
        </p:txBody>
      </p:sp>
      <p:sp>
        <p:nvSpPr>
          <p:cNvPr id="30" name="ai-detail">
            <a:extLst>
              <a:ext uri="{FF2B5EF4-FFF2-40B4-BE49-F238E27FC236}">
                <a16:creationId xmlns:a16="http://schemas.microsoft.com/office/drawing/2014/main" id="{859A4A11-C9AA-414A-9BC7-E46D29FB183C}"/>
              </a:ext>
            </a:extLst>
          </p:cNvPr>
          <p:cNvSpPr>
            <a:spLocks noGrp="1"/>
          </p:cNvSpPr>
          <p:nvPr/>
        </p:nvSpPr>
        <p:spPr>
          <a:xfrm>
            <a:off x="4991100" y="40862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识别瑕疵类型</a:t>
            </a:r>
          </a:p>
        </p:txBody>
      </p:sp>
      <p:sp>
        <p:nvSpPr>
          <p:cNvPr id="31" name="rules-title">
            <a:extLst>
              <a:ext uri="{FF2B5EF4-FFF2-40B4-BE49-F238E27FC236}">
                <a16:creationId xmlns:a16="http://schemas.microsoft.com/office/drawing/2014/main" id="{FA9EBA7B-4958-4B4F-9898-BD18C1082177}"/>
              </a:ext>
            </a:extLst>
          </p:cNvPr>
          <p:cNvSpPr>
            <a:spLocks noGrp="1"/>
          </p:cNvSpPr>
          <p:nvPr/>
        </p:nvSpPr>
        <p:spPr>
          <a:xfrm>
            <a:off x="7124700" y="3476625"/>
            <a:ext cx="167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统计与计点</a:t>
            </a:r>
          </a:p>
        </p:txBody>
      </p:sp>
      <p:sp>
        <p:nvSpPr>
          <p:cNvPr id="32" name="rules-ratio">
            <a:extLst>
              <a:ext uri="{FF2B5EF4-FFF2-40B4-BE49-F238E27FC236}">
                <a16:creationId xmlns:a16="http://schemas.microsoft.com/office/drawing/2014/main" id="{C2335139-D5DE-4DE8-85C6-7429013FA4D6}"/>
              </a:ext>
            </a:extLst>
          </p:cNvPr>
          <p:cNvSpPr>
            <a:spLocks noGrp="1"/>
          </p:cNvSpPr>
          <p:nvPr/>
        </p:nvSpPr>
        <p:spPr>
          <a:xfrm>
            <a:off x="7124700" y="3943350"/>
            <a:ext cx="16764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汇总瑕疵比例</a:t>
            </a:r>
          </a:p>
        </p:txBody>
      </p:sp>
      <p:sp>
        <p:nvSpPr>
          <p:cNvPr id="33" name="rules-sca">
            <a:extLst>
              <a:ext uri="{FF2B5EF4-FFF2-40B4-BE49-F238E27FC236}">
                <a16:creationId xmlns:a16="http://schemas.microsoft.com/office/drawing/2014/main" id="{18B8ED49-E933-4F0F-9B5A-3C8C5EDAE631}"/>
              </a:ext>
            </a:extLst>
          </p:cNvPr>
          <p:cNvSpPr>
            <a:spLocks noGrp="1"/>
          </p:cNvSpPr>
          <p:nvPr/>
        </p:nvSpPr>
        <p:spPr>
          <a:xfrm>
            <a:off x="7124700" y="4257675"/>
            <a:ext cx="16764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按 SCA 规则计点</a:t>
            </a:r>
          </a:p>
        </p:txBody>
      </p:sp>
      <p:sp>
        <p:nvSpPr>
          <p:cNvPr id="34" name="rules-judgement">
            <a:extLst>
              <a:ext uri="{FF2B5EF4-FFF2-40B4-BE49-F238E27FC236}">
                <a16:creationId xmlns:a16="http://schemas.microsoft.com/office/drawing/2014/main" id="{B5C9A2FE-B4F3-4946-AFF9-44939A10040C}"/>
              </a:ext>
            </a:extLst>
          </p:cNvPr>
          <p:cNvSpPr>
            <a:spLocks noGrp="1"/>
          </p:cNvSpPr>
          <p:nvPr/>
        </p:nvSpPr>
        <p:spPr>
          <a:xfrm>
            <a:off x="7124700" y="4562475"/>
            <a:ext cx="1676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给出外观瑕疵判定</a:t>
            </a:r>
          </a:p>
        </p:txBody>
      </p:sp>
      <p:sp>
        <p:nvSpPr>
          <p:cNvPr id="35" name="electronic-screen">
            <a:extLst>
              <a:ext uri="{FF2B5EF4-FFF2-40B4-BE49-F238E27FC236}">
                <a16:creationId xmlns:a16="http://schemas.microsoft.com/office/drawing/2014/main" id="{9E9F23F8-F393-4AFC-A194-F6D77EBF24A2}"/>
              </a:ext>
            </a:extLst>
          </p:cNvPr>
          <p:cNvSpPr>
            <a:spLocks noGrp="1"/>
          </p:cNvSpPr>
          <p:nvPr/>
        </p:nvSpPr>
        <p:spPr>
          <a:xfrm>
            <a:off x="9496425" y="2743200"/>
            <a:ext cx="2095500" cy="2428875"/>
          </a:xfrm>
          <a:prstGeom prst="roundRect">
            <a:avLst>
              <a:gd name="adj" fmla="val 7273"/>
            </a:avLst>
          </a:prstGeom>
          <a:solidFill>
            <a:srgbClr val="333641"/>
          </a:solidFill>
          <a:ln w="17145">
            <a:solidFill>
              <a:srgbClr val="7B77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creen-heading">
            <a:extLst>
              <a:ext uri="{FF2B5EF4-FFF2-40B4-BE49-F238E27FC236}">
                <a16:creationId xmlns:a16="http://schemas.microsoft.com/office/drawing/2014/main" id="{BF430FB7-A75C-4DCD-882D-B4F4FB541F43}"/>
              </a:ext>
            </a:extLst>
          </p:cNvPr>
          <p:cNvSpPr>
            <a:spLocks noGrp="1"/>
          </p:cNvSpPr>
          <p:nvPr/>
        </p:nvSpPr>
        <p:spPr>
          <a:xfrm>
            <a:off x="9667875" y="2886075"/>
            <a:ext cx="1752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202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电子屏展示</a:t>
            </a:r>
          </a:p>
        </p:txBody>
      </p:sp>
      <p:sp>
        <p:nvSpPr>
          <p:cNvPr id="37" name="result-dot-3">
            <a:extLst>
              <a:ext uri="{FF2B5EF4-FFF2-40B4-BE49-F238E27FC236}">
                <a16:creationId xmlns:a16="http://schemas.microsoft.com/office/drawing/2014/main" id="{1DC1C8C5-6949-46A3-9858-CC79EF6AFB02}"/>
              </a:ext>
            </a:extLst>
          </p:cNvPr>
          <p:cNvSpPr>
            <a:spLocks noGrp="1"/>
          </p:cNvSpPr>
          <p:nvPr/>
        </p:nvSpPr>
        <p:spPr>
          <a:xfrm>
            <a:off x="9686925" y="3457575"/>
            <a:ext cx="57150" cy="57150"/>
          </a:xfrm>
          <a:prstGeom prst="ellipse">
            <a:avLst/>
          </a:prstGeom>
          <a:solidFill>
            <a:srgbClr val="8E9F9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sult-field-瑕疵比例">
            <a:extLst>
              <a:ext uri="{FF2B5EF4-FFF2-40B4-BE49-F238E27FC236}">
                <a16:creationId xmlns:a16="http://schemas.microsoft.com/office/drawing/2014/main" id="{B90A4B80-DB25-4A45-968C-B11FCBBE12EF}"/>
              </a:ext>
            </a:extLst>
          </p:cNvPr>
          <p:cNvSpPr>
            <a:spLocks noGrp="1"/>
          </p:cNvSpPr>
          <p:nvPr/>
        </p:nvSpPr>
        <p:spPr>
          <a:xfrm>
            <a:off x="9839325" y="3362325"/>
            <a:ext cx="1543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瑕疵比例</a:t>
            </a:r>
          </a:p>
        </p:txBody>
      </p:sp>
      <p:sp>
        <p:nvSpPr>
          <p:cNvPr id="39" name="result-dot-4">
            <a:extLst>
              <a:ext uri="{FF2B5EF4-FFF2-40B4-BE49-F238E27FC236}">
                <a16:creationId xmlns:a16="http://schemas.microsoft.com/office/drawing/2014/main" id="{520848DA-D1BD-46CA-B6B7-3446113C3967}"/>
              </a:ext>
            </a:extLst>
          </p:cNvPr>
          <p:cNvSpPr>
            <a:spLocks noGrp="1"/>
          </p:cNvSpPr>
          <p:nvPr/>
        </p:nvSpPr>
        <p:spPr>
          <a:xfrm>
            <a:off x="9686925" y="3819525"/>
            <a:ext cx="57150" cy="57150"/>
          </a:xfrm>
          <a:prstGeom prst="ellipse">
            <a:avLst/>
          </a:prstGeom>
          <a:solidFill>
            <a:srgbClr val="BFA7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sult-field-瑕疵类型">
            <a:extLst>
              <a:ext uri="{FF2B5EF4-FFF2-40B4-BE49-F238E27FC236}">
                <a16:creationId xmlns:a16="http://schemas.microsoft.com/office/drawing/2014/main" id="{92412832-ECEC-42CF-8C0B-DEF08BEBA994}"/>
              </a:ext>
            </a:extLst>
          </p:cNvPr>
          <p:cNvSpPr>
            <a:spLocks noGrp="1"/>
          </p:cNvSpPr>
          <p:nvPr/>
        </p:nvSpPr>
        <p:spPr>
          <a:xfrm>
            <a:off x="9839325" y="3724275"/>
            <a:ext cx="1543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瑕疵类型</a:t>
            </a:r>
          </a:p>
        </p:txBody>
      </p:sp>
      <p:sp>
        <p:nvSpPr>
          <p:cNvPr id="41" name="result-dot-5">
            <a:extLst>
              <a:ext uri="{FF2B5EF4-FFF2-40B4-BE49-F238E27FC236}">
                <a16:creationId xmlns:a16="http://schemas.microsoft.com/office/drawing/2014/main" id="{6C433C11-803E-496B-BFB7-352EF1BE6E0B}"/>
              </a:ext>
            </a:extLst>
          </p:cNvPr>
          <p:cNvSpPr>
            <a:spLocks noGrp="1"/>
          </p:cNvSpPr>
          <p:nvPr/>
        </p:nvSpPr>
        <p:spPr>
          <a:xfrm>
            <a:off x="9686925" y="4181475"/>
            <a:ext cx="57150" cy="57150"/>
          </a:xfrm>
          <a:prstGeom prst="ellipse">
            <a:avLst/>
          </a:prstGeom>
          <a:solidFill>
            <a:srgbClr val="B7A8C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sult-field-SCA计点">
            <a:extLst>
              <a:ext uri="{FF2B5EF4-FFF2-40B4-BE49-F238E27FC236}">
                <a16:creationId xmlns:a16="http://schemas.microsoft.com/office/drawing/2014/main" id="{99E702CA-8B13-4E8C-8D88-B63B047A4496}"/>
              </a:ext>
            </a:extLst>
          </p:cNvPr>
          <p:cNvSpPr>
            <a:spLocks noGrp="1"/>
          </p:cNvSpPr>
          <p:nvPr/>
        </p:nvSpPr>
        <p:spPr>
          <a:xfrm>
            <a:off x="9839325" y="4086225"/>
            <a:ext cx="1543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SCA计点</a:t>
            </a:r>
          </a:p>
        </p:txBody>
      </p:sp>
      <p:sp>
        <p:nvSpPr>
          <p:cNvPr id="43" name="result-dot-6">
            <a:extLst>
              <a:ext uri="{FF2B5EF4-FFF2-40B4-BE49-F238E27FC236}">
                <a16:creationId xmlns:a16="http://schemas.microsoft.com/office/drawing/2014/main" id="{CC7E9C89-1A90-4CE8-8BD9-BD48D876667F}"/>
              </a:ext>
            </a:extLst>
          </p:cNvPr>
          <p:cNvSpPr>
            <a:spLocks noGrp="1"/>
          </p:cNvSpPr>
          <p:nvPr/>
        </p:nvSpPr>
        <p:spPr>
          <a:xfrm>
            <a:off x="9686925" y="4543425"/>
            <a:ext cx="57150" cy="57150"/>
          </a:xfrm>
          <a:prstGeom prst="ellipse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sult-field-外观瑕疵判定">
            <a:extLst>
              <a:ext uri="{FF2B5EF4-FFF2-40B4-BE49-F238E27FC236}">
                <a16:creationId xmlns:a16="http://schemas.microsoft.com/office/drawing/2014/main" id="{A698AE01-319B-4704-B4D6-6F34C129630E}"/>
              </a:ext>
            </a:extLst>
          </p:cNvPr>
          <p:cNvSpPr>
            <a:spLocks noGrp="1"/>
          </p:cNvSpPr>
          <p:nvPr/>
        </p:nvSpPr>
        <p:spPr>
          <a:xfrm>
            <a:off x="9839325" y="4448175"/>
            <a:ext cx="1543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外观瑕疵判定</a:t>
            </a:r>
          </a:p>
        </p:txBody>
      </p:sp>
      <p:sp>
        <p:nvSpPr>
          <p:cNvPr id="45" name="screen-field-note">
            <a:extLst>
              <a:ext uri="{FF2B5EF4-FFF2-40B4-BE49-F238E27FC236}">
                <a16:creationId xmlns:a16="http://schemas.microsoft.com/office/drawing/2014/main" id="{5A935ADE-1332-4CBF-BE65-4572C62E6701}"/>
              </a:ext>
            </a:extLst>
          </p:cNvPr>
          <p:cNvSpPr>
            <a:spLocks noGrp="1"/>
          </p:cNvSpPr>
          <p:nvPr/>
        </p:nvSpPr>
        <p:spPr>
          <a:xfrm>
            <a:off x="9667875" y="4905375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C3C1C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0">
                <a:solidFill>
                  <a:srgbClr val="C3C1C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0">
                <a:solidFill>
                  <a:srgbClr val="C3C1C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0">
                <a:solidFill>
                  <a:srgbClr val="C3C1C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0">
                <a:solidFill>
                  <a:srgbClr val="C3C1C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0">
                <a:solidFill>
                  <a:srgbClr val="C3C1C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0">
                <a:solidFill>
                  <a:srgbClr val="C3C1C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0">
                <a:solidFill>
                  <a:srgbClr val="C3C1C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0">
                <a:solidFill>
                  <a:srgbClr val="C3C1C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0">
                <a:solidFill>
                  <a:srgbClr val="C3C1C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1275" b="0">
                <a:solidFill>
                  <a:srgbClr val="C3C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C3C1C9"/>
                </a:solidFill>
                <a:latin typeface="Hiragino Sans GB"/>
                <a:ea typeface="Hiragino Sans GB"/>
                <a:cs typeface="Hiragino Sans GB"/>
              </a:rPr>
              <a:t>结果字段示意</a:t>
            </a:r>
          </a:p>
        </p:txBody>
      </p:sp>
      <p:sp>
        <p:nvSpPr>
          <p:cNvPr id="46" name="screen-caption">
            <a:extLst>
              <a:ext uri="{FF2B5EF4-FFF2-40B4-BE49-F238E27FC236}">
                <a16:creationId xmlns:a16="http://schemas.microsoft.com/office/drawing/2014/main" id="{C95DDC70-B14F-45AB-99F1-2981C8D9BEC2}"/>
              </a:ext>
            </a:extLst>
          </p:cNvPr>
          <p:cNvSpPr>
            <a:spLocks noGrp="1"/>
          </p:cNvSpPr>
          <p:nvPr/>
        </p:nvSpPr>
        <p:spPr>
          <a:xfrm>
            <a:off x="9420225" y="5238750"/>
            <a:ext cx="2247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四项结果直接展示</a:t>
            </a: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B2125F4C-3740-4C0A-A3AC-C02309A538FA}"/>
              </a:ext>
            </a:extLst>
          </p:cNvPr>
          <p:cNvCxnSpPr>
            <a:stCxn id="7" idx="3"/>
            <a:endCxn id="14" idx="1"/>
          </p:cNvCxnSpPr>
          <p:nvPr/>
        </p:nvCxnSpPr>
        <p:spPr>
          <a:xfrm>
            <a:off x="2133600" y="3962400"/>
            <a:ext cx="409575" cy="0"/>
          </a:xfrm>
          <a:prstGeom prst="straightConnector1">
            <a:avLst/>
          </a:prstGeom>
          <a:ln w="26670">
            <a:solidFill>
              <a:srgbClr val="BFA77B"/>
            </a:solidFill>
            <a:prstDash val="solid"/>
            <a:tailEnd type="arrow" w="med" len="med"/>
          </a:ln>
        </p:spPr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C4FF2422-8241-4A4E-A876-CE663423011A}"/>
              </a:ext>
            </a:extLst>
          </p:cNvPr>
          <p:cNvCxnSpPr>
            <a:stCxn id="4" idx="2"/>
            <a:endCxn id="14" idx="0"/>
          </p:cNvCxnSpPr>
          <p:nvPr/>
        </p:nvCxnSpPr>
        <p:spPr>
          <a:xfrm>
            <a:off x="3414713" y="2686050"/>
            <a:ext cx="0" cy="371475"/>
          </a:xfrm>
          <a:prstGeom prst="straightConnector1">
            <a:avLst/>
          </a:prstGeom>
          <a:ln w="19050">
            <a:solidFill>
              <a:srgbClr val="6D8894"/>
            </a:solidFill>
            <a:prstDash val="dash"/>
            <a:tailEnd type="arrow" w="med" len="med"/>
          </a:ln>
        </p:spPr>
      </p:cxnSp>
      <p:sp>
        <p:nvSpPr>
          <p:cNvPr id="49" name="ai-flow-anchor">
            <a:extLst>
              <a:ext uri="{FF2B5EF4-FFF2-40B4-BE49-F238E27FC236}">
                <a16:creationId xmlns:a16="http://schemas.microsoft.com/office/drawing/2014/main" id="{4F80CFCC-F0B5-4C71-A963-DB6E3DA4E6F3}"/>
              </a:ext>
            </a:extLst>
          </p:cNvPr>
          <p:cNvSpPr>
            <a:spLocks noGrp="1"/>
          </p:cNvSpPr>
          <p:nvPr/>
        </p:nvSpPr>
        <p:spPr>
          <a:xfrm>
            <a:off x="4905375" y="3057525"/>
            <a:ext cx="16002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rules-flow-anchor">
            <a:extLst>
              <a:ext uri="{FF2B5EF4-FFF2-40B4-BE49-F238E27FC236}">
                <a16:creationId xmlns:a16="http://schemas.microsoft.com/office/drawing/2014/main" id="{E8CC32AA-821D-47B1-9AE4-96009A175338}"/>
              </a:ext>
            </a:extLst>
          </p:cNvPr>
          <p:cNvSpPr>
            <a:spLocks noGrp="1"/>
          </p:cNvSpPr>
          <p:nvPr/>
        </p:nvSpPr>
        <p:spPr>
          <a:xfrm>
            <a:off x="7067550" y="3057525"/>
            <a:ext cx="17907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28F1D5B-2112-4920-917E-F763FEC4711D}"/>
              </a:ext>
            </a:extLst>
          </p:cNvPr>
          <p:cNvCxnSpPr>
            <a:stCxn id="14" idx="3"/>
            <a:endCxn id="49" idx="1"/>
          </p:cNvCxnSpPr>
          <p:nvPr/>
        </p:nvCxnSpPr>
        <p:spPr>
          <a:xfrm>
            <a:off x="4286250" y="3962400"/>
            <a:ext cx="619125" cy="0"/>
          </a:xfrm>
          <a:prstGeom prst="straightConnector1">
            <a:avLst/>
          </a:prstGeom>
          <a:ln w="26670">
            <a:solidFill>
              <a:srgbClr val="6D8894"/>
            </a:solidFill>
            <a:prstDash val="solid"/>
            <a:tailEnd type="arrow" w="med" len="med"/>
          </a:ln>
        </p:spPr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864729C7-53D4-4CA6-B0BB-CE52333F8B25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6505575" y="3962400"/>
            <a:ext cx="561975" cy="0"/>
          </a:xfrm>
          <a:prstGeom prst="straightConnector1">
            <a:avLst/>
          </a:prstGeom>
          <a:ln w="26670">
            <a:solidFill>
              <a:srgbClr val="6B5B73"/>
            </a:solidFill>
            <a:prstDash val="solid"/>
            <a:tailEnd type="arrow" w="med" len="med"/>
          </a:ln>
        </p:spPr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A990F818-1897-4521-B17D-9463F0469064}"/>
              </a:ext>
            </a:extLst>
          </p:cNvPr>
          <p:cNvCxnSpPr>
            <a:stCxn id="50" idx="3"/>
            <a:endCxn id="35" idx="1"/>
          </p:cNvCxnSpPr>
          <p:nvPr/>
        </p:nvCxnSpPr>
        <p:spPr>
          <a:xfrm flipV="1">
            <a:off x="8858250" y="3957638"/>
            <a:ext cx="638175" cy="4763"/>
          </a:xfrm>
          <a:prstGeom prst="straightConnector1">
            <a:avLst/>
          </a:prstGeom>
          <a:ln w="26670">
            <a:solidFill>
              <a:srgbClr val="6D8894"/>
            </a:solidFill>
            <a:prstDash val="solid"/>
            <a:tailEnd type="arrow" w="med" len="med"/>
          </a:ln>
        </p:spPr>
      </p:cxnSp>
      <p:sp>
        <p:nvSpPr>
          <p:cNvPr id="54" name="lower-rule">
            <a:extLst>
              <a:ext uri="{FF2B5EF4-FFF2-40B4-BE49-F238E27FC236}">
                <a16:creationId xmlns:a16="http://schemas.microsoft.com/office/drawing/2014/main" id="{FF6A006E-1FDE-4FC8-9A13-B3693B1C8AC1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0"/>
          </a:xfrm>
          <a:prstGeom prst="line">
            <a:avLst/>
          </a:prstGeom>
          <a:noFill/>
          <a:ln w="11430">
            <a:solidFill>
              <a:srgbClr val="DA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workflow-state">
            <a:extLst>
              <a:ext uri="{FF2B5EF4-FFF2-40B4-BE49-F238E27FC236}">
                <a16:creationId xmlns:a16="http://schemas.microsoft.com/office/drawing/2014/main" id="{6276B219-0EFB-4620-B375-9A2926B922D3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已跑通：投豆、双摄采集、识别计点与电子屏展示</a:t>
            </a:r>
          </a:p>
        </p:txBody>
      </p:sp>
      <p:sp>
        <p:nvSpPr>
          <p:cNvPr id="56" name="testing-state">
            <a:extLst>
              <a:ext uri="{FF2B5EF4-FFF2-40B4-BE49-F238E27FC236}">
                <a16:creationId xmlns:a16="http://schemas.microsoft.com/office/drawing/2014/main" id="{48C5E21C-3217-4820-91C4-212E526D2F9C}"/>
              </a:ext>
            </a:extLst>
          </p:cNvPr>
          <p:cNvSpPr>
            <a:spLocks noGrp="1"/>
          </p:cNvSpPr>
          <p:nvPr/>
        </p:nvSpPr>
        <p:spPr>
          <a:xfrm>
            <a:off x="609600" y="6267450"/>
            <a:ext cx="1097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单次投放量、识别准确性与处理耗时</a:t>
            </a:r>
            <a:r>
              <a:rPr lang="zh-CN" altLang="en-US" sz="1500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将持续优化</a:t>
            </a:r>
            <a:endParaRPr sz="1500" b="0" dirty="0">
              <a:solidFill>
                <a:srgbClr val="8B7D8B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882967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rand">
            <a:extLst>
              <a:ext uri="{FF2B5EF4-FFF2-40B4-BE49-F238E27FC236}">
                <a16:creationId xmlns:a16="http://schemas.microsoft.com/office/drawing/2014/main" id="{2F80C6C2-1085-46C7-8064-5AEEE309FE4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豆鉴 BeanLens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B886031-A51C-44B9-A3CD-29CEA0B79B88}"/>
              </a:ext>
            </a:extLst>
          </p:cNvPr>
          <p:cNvSpPr>
            <a:spLocks noGrp="1"/>
          </p:cNvSpPr>
          <p:nvPr/>
        </p:nvSpPr>
        <p:spPr>
          <a:xfrm>
            <a:off x="609600" y="752475"/>
            <a:ext cx="109728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一屏查看生豆瑕疵检测结果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126013-64BD-4B24-91B7-87743F7236DA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识别、统计与计点完成后，四项结果直接显示在设备电子屏</a:t>
            </a:r>
          </a:p>
        </p:txBody>
      </p:sp>
      <p:sp>
        <p:nvSpPr>
          <p:cNvPr id="4" name="electronic-screen-photo-placeholder">
            <a:extLst>
              <a:ext uri="{FF2B5EF4-FFF2-40B4-BE49-F238E27FC236}">
                <a16:creationId xmlns:a16="http://schemas.microsoft.com/office/drawing/2014/main" id="{AD494A1C-4E36-4039-81FD-CF0BC5231FD4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5905500" cy="3486150"/>
          </a:xfrm>
          <a:prstGeom prst="roundRect">
            <a:avLst>
              <a:gd name="adj" fmla="val 4372"/>
            </a:avLst>
          </a:prstGeom>
          <a:solidFill>
            <a:srgbClr val="EEE9F0"/>
          </a:solidFill>
          <a:ln w="19050">
            <a:solidFill>
              <a:srgbClr val="B9ACB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photo-placeholder-title">
            <a:extLst>
              <a:ext uri="{FF2B5EF4-FFF2-40B4-BE49-F238E27FC236}">
                <a16:creationId xmlns:a16="http://schemas.microsoft.com/office/drawing/2014/main" id="{3B636CF5-6370-4944-8FE6-36E2AE1FF709}"/>
              </a:ext>
            </a:extLst>
          </p:cNvPr>
          <p:cNvSpPr>
            <a:spLocks noGrp="1"/>
          </p:cNvSpPr>
          <p:nvPr/>
        </p:nvSpPr>
        <p:spPr>
          <a:xfrm>
            <a:off x="762000" y="2324797"/>
            <a:ext cx="533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4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4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4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4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4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4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4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4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4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4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ctr">
              <a:buNone/>
              <a:defRPr sz="24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 dirty="0" err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设备电子屏实拍</a:t>
            </a:r>
            <a:endParaRPr sz="2475" b="1" dirty="0">
              <a:solidFill>
                <a:srgbClr val="6B5B7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field-marker-0">
            <a:extLst>
              <a:ext uri="{FF2B5EF4-FFF2-40B4-BE49-F238E27FC236}">
                <a16:creationId xmlns:a16="http://schemas.microsoft.com/office/drawing/2014/main" id="{981AFD43-31A0-4C51-AA74-FF6EFEDA7997}"/>
              </a:ext>
            </a:extLst>
          </p:cNvPr>
          <p:cNvSpPr>
            <a:spLocks noGrp="1"/>
          </p:cNvSpPr>
          <p:nvPr/>
        </p:nvSpPr>
        <p:spPr>
          <a:xfrm>
            <a:off x="7086600" y="2409825"/>
            <a:ext cx="95250" cy="95250"/>
          </a:xfrm>
          <a:prstGeom prst="ellipse">
            <a:avLst/>
          </a:prstGeom>
          <a:solidFill>
            <a:srgbClr val="8E9F9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ield-label-0">
            <a:extLst>
              <a:ext uri="{FF2B5EF4-FFF2-40B4-BE49-F238E27FC236}">
                <a16:creationId xmlns:a16="http://schemas.microsoft.com/office/drawing/2014/main" id="{28B3F12B-F1B3-4E89-9104-40CDBB8DB8EB}"/>
              </a:ext>
            </a:extLst>
          </p:cNvPr>
          <p:cNvSpPr>
            <a:spLocks noGrp="1"/>
          </p:cNvSpPr>
          <p:nvPr/>
        </p:nvSpPr>
        <p:spPr>
          <a:xfrm>
            <a:off x="7315200" y="2266950"/>
            <a:ext cx="426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瑕疵比例</a:t>
            </a:r>
          </a:p>
        </p:txBody>
      </p:sp>
      <p:sp>
        <p:nvSpPr>
          <p:cNvPr id="9" name="field-explanation-0">
            <a:extLst>
              <a:ext uri="{FF2B5EF4-FFF2-40B4-BE49-F238E27FC236}">
                <a16:creationId xmlns:a16="http://schemas.microsoft.com/office/drawing/2014/main" id="{2D91B398-760A-41B9-8BA1-2254E1507931}"/>
              </a:ext>
            </a:extLst>
          </p:cNvPr>
          <p:cNvSpPr>
            <a:spLocks noGrp="1"/>
          </p:cNvSpPr>
          <p:nvPr/>
        </p:nvSpPr>
        <p:spPr>
          <a:xfrm>
            <a:off x="7315200" y="2695575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当前检测样本中的瑕疵占比</a:t>
            </a:r>
          </a:p>
        </p:txBody>
      </p:sp>
      <p:sp>
        <p:nvSpPr>
          <p:cNvPr id="10" name="field-marker-1">
            <a:extLst>
              <a:ext uri="{FF2B5EF4-FFF2-40B4-BE49-F238E27FC236}">
                <a16:creationId xmlns:a16="http://schemas.microsoft.com/office/drawing/2014/main" id="{D376CA3E-2609-4569-A253-05626B80ED94}"/>
              </a:ext>
            </a:extLst>
          </p:cNvPr>
          <p:cNvSpPr>
            <a:spLocks noGrp="1"/>
          </p:cNvSpPr>
          <p:nvPr/>
        </p:nvSpPr>
        <p:spPr>
          <a:xfrm>
            <a:off x="7086600" y="3324225"/>
            <a:ext cx="95250" cy="95250"/>
          </a:xfrm>
          <a:prstGeom prst="ellipse">
            <a:avLst/>
          </a:prstGeom>
          <a:solidFill>
            <a:srgbClr val="BFA7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ield-label-1">
            <a:extLst>
              <a:ext uri="{FF2B5EF4-FFF2-40B4-BE49-F238E27FC236}">
                <a16:creationId xmlns:a16="http://schemas.microsoft.com/office/drawing/2014/main" id="{50432637-831F-48E5-AB82-F7FA90E6D160}"/>
              </a:ext>
            </a:extLst>
          </p:cNvPr>
          <p:cNvSpPr>
            <a:spLocks noGrp="1"/>
          </p:cNvSpPr>
          <p:nvPr/>
        </p:nvSpPr>
        <p:spPr>
          <a:xfrm>
            <a:off x="7315200" y="3181350"/>
            <a:ext cx="426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瑕疵类型</a:t>
            </a:r>
          </a:p>
        </p:txBody>
      </p:sp>
      <p:sp>
        <p:nvSpPr>
          <p:cNvPr id="12" name="field-explanation-1">
            <a:extLst>
              <a:ext uri="{FF2B5EF4-FFF2-40B4-BE49-F238E27FC236}">
                <a16:creationId xmlns:a16="http://schemas.microsoft.com/office/drawing/2014/main" id="{FEC7F78B-5A74-4172-A5ED-DAE99E15B907}"/>
              </a:ext>
            </a:extLst>
          </p:cNvPr>
          <p:cNvSpPr>
            <a:spLocks noGrp="1"/>
          </p:cNvSpPr>
          <p:nvPr/>
        </p:nvSpPr>
        <p:spPr>
          <a:xfrm>
            <a:off x="7315200" y="3609975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识别到的瑕疵类别</a:t>
            </a:r>
          </a:p>
        </p:txBody>
      </p:sp>
      <p:sp>
        <p:nvSpPr>
          <p:cNvPr id="13" name="field-marker-2">
            <a:extLst>
              <a:ext uri="{FF2B5EF4-FFF2-40B4-BE49-F238E27FC236}">
                <a16:creationId xmlns:a16="http://schemas.microsoft.com/office/drawing/2014/main" id="{BB016504-BEA3-4B58-9DAA-59D83DFEBF19}"/>
              </a:ext>
            </a:extLst>
          </p:cNvPr>
          <p:cNvSpPr>
            <a:spLocks noGrp="1"/>
          </p:cNvSpPr>
          <p:nvPr/>
        </p:nvSpPr>
        <p:spPr>
          <a:xfrm>
            <a:off x="7086600" y="4238625"/>
            <a:ext cx="95250" cy="95250"/>
          </a:xfrm>
          <a:prstGeom prst="ellipse">
            <a:avLst/>
          </a:prstGeom>
          <a:solidFill>
            <a:srgbClr val="6B5B7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field-label-2">
            <a:extLst>
              <a:ext uri="{FF2B5EF4-FFF2-40B4-BE49-F238E27FC236}">
                <a16:creationId xmlns:a16="http://schemas.microsoft.com/office/drawing/2014/main" id="{64B2202D-1565-4808-80BE-DCA7E8BEC717}"/>
              </a:ext>
            </a:extLst>
          </p:cNvPr>
          <p:cNvSpPr>
            <a:spLocks noGrp="1"/>
          </p:cNvSpPr>
          <p:nvPr/>
        </p:nvSpPr>
        <p:spPr>
          <a:xfrm>
            <a:off x="7315200" y="4095750"/>
            <a:ext cx="426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SCA 计点</a:t>
            </a:r>
          </a:p>
        </p:txBody>
      </p:sp>
      <p:sp>
        <p:nvSpPr>
          <p:cNvPr id="15" name="field-explanation-2">
            <a:extLst>
              <a:ext uri="{FF2B5EF4-FFF2-40B4-BE49-F238E27FC236}">
                <a16:creationId xmlns:a16="http://schemas.microsoft.com/office/drawing/2014/main" id="{2077D441-EEE8-4BEC-AC5E-B5B15D63C11D}"/>
              </a:ext>
            </a:extLst>
          </p:cNvPr>
          <p:cNvSpPr>
            <a:spLocks noGrp="1"/>
          </p:cNvSpPr>
          <p:nvPr/>
        </p:nvSpPr>
        <p:spPr>
          <a:xfrm>
            <a:off x="7315200" y="4524375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按类型折算的外观瑕疵点数</a:t>
            </a:r>
          </a:p>
        </p:txBody>
      </p:sp>
      <p:sp>
        <p:nvSpPr>
          <p:cNvPr id="16" name="field-marker-3">
            <a:extLst>
              <a:ext uri="{FF2B5EF4-FFF2-40B4-BE49-F238E27FC236}">
                <a16:creationId xmlns:a16="http://schemas.microsoft.com/office/drawing/2014/main" id="{04B0EC57-CC26-493D-8A60-C1EAC4F975BD}"/>
              </a:ext>
            </a:extLst>
          </p:cNvPr>
          <p:cNvSpPr>
            <a:spLocks noGrp="1"/>
          </p:cNvSpPr>
          <p:nvPr/>
        </p:nvSpPr>
        <p:spPr>
          <a:xfrm>
            <a:off x="7086600" y="5153025"/>
            <a:ext cx="95250" cy="95250"/>
          </a:xfrm>
          <a:prstGeom prst="ellipse">
            <a:avLst/>
          </a:prstGeom>
          <a:solidFill>
            <a:srgbClr val="6D88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field-label-3">
            <a:extLst>
              <a:ext uri="{FF2B5EF4-FFF2-40B4-BE49-F238E27FC236}">
                <a16:creationId xmlns:a16="http://schemas.microsoft.com/office/drawing/2014/main" id="{191DD9C8-9283-47BA-B54E-28D38961DADA}"/>
              </a:ext>
            </a:extLst>
          </p:cNvPr>
          <p:cNvSpPr>
            <a:spLocks noGrp="1"/>
          </p:cNvSpPr>
          <p:nvPr/>
        </p:nvSpPr>
        <p:spPr>
          <a:xfrm>
            <a:off x="7315200" y="5010150"/>
            <a:ext cx="426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外观判定</a:t>
            </a:r>
          </a:p>
        </p:txBody>
      </p:sp>
      <p:sp>
        <p:nvSpPr>
          <p:cNvPr id="18" name="field-explanation-3">
            <a:extLst>
              <a:ext uri="{FF2B5EF4-FFF2-40B4-BE49-F238E27FC236}">
                <a16:creationId xmlns:a16="http://schemas.microsoft.com/office/drawing/2014/main" id="{15FADFD2-E02D-4F05-B55F-904072A99F60}"/>
              </a:ext>
            </a:extLst>
          </p:cNvPr>
          <p:cNvSpPr>
            <a:spLocks noGrp="1"/>
          </p:cNvSpPr>
          <p:nvPr/>
        </p:nvSpPr>
        <p:spPr>
          <a:xfrm>
            <a:off x="7315200" y="5438775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是否满足对应的外观瑕疵要求</a:t>
            </a:r>
          </a:p>
        </p:txBody>
      </p:sp>
      <p:sp>
        <p:nvSpPr>
          <p:cNvPr id="19" name="footer-rule">
            <a:extLst>
              <a:ext uri="{FF2B5EF4-FFF2-40B4-BE49-F238E27FC236}">
                <a16:creationId xmlns:a16="http://schemas.microsoft.com/office/drawing/2014/main" id="{9BB6406F-5702-4E27-B3F7-73B1C92EC325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0"/>
          </a:xfrm>
          <a:prstGeom prst="line">
            <a:avLst/>
          </a:prstGeom>
          <a:noFill/>
          <a:ln w="11430">
            <a:solidFill>
              <a:srgbClr val="DA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cope-note">
            <a:extLst>
              <a:ext uri="{FF2B5EF4-FFF2-40B4-BE49-F238E27FC236}">
                <a16:creationId xmlns:a16="http://schemas.microsoft.com/office/drawing/2014/main" id="{92E55E80-8940-4664-9875-3466E448C97A}"/>
              </a:ext>
            </a:extLst>
          </p:cNvPr>
          <p:cNvSpPr>
            <a:spLocks noGrp="1"/>
          </p:cNvSpPr>
          <p:nvPr/>
        </p:nvSpPr>
        <p:spPr>
          <a:xfrm>
            <a:off x="609600" y="6267450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SCA 计点与判定范围限于生豆外观瑕疵</a:t>
            </a:r>
          </a:p>
        </p:txBody>
      </p:sp>
      <p:pic>
        <p:nvPicPr>
          <p:cNvPr id="24" name="图片 23" descr="屏幕上有字&#10;&#10;AI 生成的内容可能不正确。">
            <a:extLst>
              <a:ext uri="{FF2B5EF4-FFF2-40B4-BE49-F238E27FC236}">
                <a16:creationId xmlns:a16="http://schemas.microsoft.com/office/drawing/2014/main" id="{A3D1BA76-8E05-88B1-D854-E54F25DA0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55" y="2839999"/>
            <a:ext cx="4072751" cy="271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1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rogress-brand">
            <a:extLst>
              <a:ext uri="{FF2B5EF4-FFF2-40B4-BE49-F238E27FC236}">
                <a16:creationId xmlns:a16="http://schemas.microsoft.com/office/drawing/2014/main" id="{00DDB962-72E5-4D21-9613-5E398E7DFA6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豆鉴 BeanLens</a:t>
            </a:r>
          </a:p>
        </p:txBody>
      </p:sp>
      <p:sp>
        <p:nvSpPr>
          <p:cNvPr id="2" name="progress-title">
            <a:extLst>
              <a:ext uri="{FF2B5EF4-FFF2-40B4-BE49-F238E27FC236}">
                <a16:creationId xmlns:a16="http://schemas.microsoft.com/office/drawing/2014/main" id="{97ED27C4-6387-47EF-ABF9-9C2692D4CDFC}"/>
              </a:ext>
            </a:extLst>
          </p:cNvPr>
          <p:cNvSpPr>
            <a:spLocks noGrp="1"/>
          </p:cNvSpPr>
          <p:nvPr/>
        </p:nvSpPr>
        <p:spPr>
          <a:xfrm>
            <a:off x="609600" y="752475"/>
            <a:ext cx="109728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四天，我们做了什么</a:t>
            </a:r>
          </a:p>
        </p:txBody>
      </p:sp>
      <p:sp>
        <p:nvSpPr>
          <p:cNvPr id="3" name="progress-subtitle">
            <a:extLst>
              <a:ext uri="{FF2B5EF4-FFF2-40B4-BE49-F238E27FC236}">
                <a16:creationId xmlns:a16="http://schemas.microsoft.com/office/drawing/2014/main" id="{88F97173-31C0-49B7-912C-419E2A19F144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跑通</a:t>
            </a:r>
            <a:r>
              <a:rPr lang="zh-CN" altLang="en-US" sz="202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实机</a:t>
            </a:r>
            <a:r>
              <a:rPr lang="en-US" dirty="0"/>
              <a:t>0到</a:t>
            </a:r>
            <a:r>
              <a:rPr lang="en-US" altLang="zh-CN" dirty="0"/>
              <a:t>1</a:t>
            </a:r>
            <a:r>
              <a:rPr sz="202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：投豆、双摄采集、识别计点与电子屏展示</a:t>
            </a:r>
          </a:p>
        </p:txBody>
      </p:sp>
      <p:sp>
        <p:nvSpPr>
          <p:cNvPr id="7" name="progress-during-competition">
            <a:extLst>
              <a:ext uri="{FF2B5EF4-FFF2-40B4-BE49-F238E27FC236}">
                <a16:creationId xmlns:a16="http://schemas.microsoft.com/office/drawing/2014/main" id="{16730C4C-276B-4FD1-97BA-3B9399612A0D}"/>
              </a:ext>
            </a:extLst>
          </p:cNvPr>
          <p:cNvSpPr>
            <a:spLocks noGrp="1"/>
          </p:cNvSpPr>
          <p:nvPr/>
        </p:nvSpPr>
        <p:spPr>
          <a:xfrm>
            <a:off x="6038850" y="2070100"/>
            <a:ext cx="529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8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 dirty="0" err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赛中新增</a:t>
            </a:r>
            <a:endParaRPr sz="1875" b="1" dirty="0">
              <a:solidFill>
                <a:srgbClr val="6B5B7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progress-integration-title">
            <a:extLst>
              <a:ext uri="{FF2B5EF4-FFF2-40B4-BE49-F238E27FC236}">
                <a16:creationId xmlns:a16="http://schemas.microsoft.com/office/drawing/2014/main" id="{B50E6CD4-A870-426E-A231-D149A8036804}"/>
              </a:ext>
            </a:extLst>
          </p:cNvPr>
          <p:cNvSpPr>
            <a:spLocks noGrp="1"/>
          </p:cNvSpPr>
          <p:nvPr/>
        </p:nvSpPr>
        <p:spPr>
          <a:xfrm>
            <a:off x="6038850" y="4735478"/>
            <a:ext cx="5295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dirty="0" err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实机联调</a:t>
            </a:r>
            <a:endParaRPr sz="2250" b="1" dirty="0">
              <a:solidFill>
                <a:srgbClr val="6B5B7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progress-integration-description">
            <a:extLst>
              <a:ext uri="{FF2B5EF4-FFF2-40B4-BE49-F238E27FC236}">
                <a16:creationId xmlns:a16="http://schemas.microsoft.com/office/drawing/2014/main" id="{078C864D-F963-4D70-8162-8725FC554287}"/>
              </a:ext>
            </a:extLst>
          </p:cNvPr>
          <p:cNvSpPr>
            <a:spLocks noGrp="1"/>
          </p:cNvSpPr>
          <p:nvPr/>
        </p:nvSpPr>
        <p:spPr>
          <a:xfrm>
            <a:off x="6038850" y="5164103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投豆、双摄与</a:t>
            </a:r>
            <a:r>
              <a:rPr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 K230D </a:t>
            </a:r>
            <a:r>
              <a:rPr sz="1800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端侧识别联调</a:t>
            </a:r>
            <a:endParaRPr sz="1800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progress-software-title">
            <a:extLst>
              <a:ext uri="{FF2B5EF4-FFF2-40B4-BE49-F238E27FC236}">
                <a16:creationId xmlns:a16="http://schemas.microsoft.com/office/drawing/2014/main" id="{96F31FA4-8E82-4C3F-8AC7-30139418DF43}"/>
              </a:ext>
            </a:extLst>
          </p:cNvPr>
          <p:cNvSpPr>
            <a:spLocks noGrp="1"/>
          </p:cNvSpPr>
          <p:nvPr/>
        </p:nvSpPr>
        <p:spPr>
          <a:xfrm>
            <a:off x="6038850" y="3706304"/>
            <a:ext cx="5295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dirty="0" err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检测程序</a:t>
            </a:r>
            <a:endParaRPr sz="2250" b="1" dirty="0">
              <a:solidFill>
                <a:srgbClr val="6B5B7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progress-software-description">
            <a:extLst>
              <a:ext uri="{FF2B5EF4-FFF2-40B4-BE49-F238E27FC236}">
                <a16:creationId xmlns:a16="http://schemas.microsoft.com/office/drawing/2014/main" id="{597DF0DC-3BAF-4DE6-99B4-89AC431CAE92}"/>
              </a:ext>
            </a:extLst>
          </p:cNvPr>
          <p:cNvSpPr>
            <a:spLocks noGrp="1"/>
          </p:cNvSpPr>
          <p:nvPr/>
        </p:nvSpPr>
        <p:spPr>
          <a:xfrm>
            <a:off x="6038850" y="4198363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zh-CN" dirty="0"/>
              <a:t>训练与端侧部署</a:t>
            </a:r>
            <a:r>
              <a:rPr lang="en-US" altLang="zh-CN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yolo26</a:t>
            </a:r>
            <a:r>
              <a:rPr lang="zh-CN" altLang="en-US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模型，</a:t>
            </a:r>
            <a:r>
              <a:rPr sz="1800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编写</a:t>
            </a:r>
            <a:r>
              <a:rPr lang="zh-CN" altLang="en-US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程序让</a:t>
            </a:r>
            <a:r>
              <a:rPr lang="en-US" altLang="zh-CN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K230D</a:t>
            </a:r>
            <a:r>
              <a:rPr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屏幕展示</a:t>
            </a:r>
            <a:endParaRPr lang="en-US" sz="1800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buNone/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四项检测结果</a:t>
            </a:r>
            <a:endParaRPr sz="1800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progress-documents-title">
            <a:extLst>
              <a:ext uri="{FF2B5EF4-FFF2-40B4-BE49-F238E27FC236}">
                <a16:creationId xmlns:a16="http://schemas.microsoft.com/office/drawing/2014/main" id="{4CBE69EE-785E-43AA-8FA5-E916F7A066DC}"/>
              </a:ext>
            </a:extLst>
          </p:cNvPr>
          <p:cNvSpPr>
            <a:spLocks noGrp="1"/>
          </p:cNvSpPr>
          <p:nvPr/>
        </p:nvSpPr>
        <p:spPr>
          <a:xfrm>
            <a:off x="6038850" y="2584449"/>
            <a:ext cx="5295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dirty="0" err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装配</a:t>
            </a:r>
            <a:endParaRPr sz="2250" b="1" dirty="0">
              <a:solidFill>
                <a:srgbClr val="6B5B7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progress-documents-description">
            <a:extLst>
              <a:ext uri="{FF2B5EF4-FFF2-40B4-BE49-F238E27FC236}">
                <a16:creationId xmlns:a16="http://schemas.microsoft.com/office/drawing/2014/main" id="{C9EBB670-A070-44B3-B685-E798E373EDD7}"/>
              </a:ext>
            </a:extLst>
          </p:cNvPr>
          <p:cNvSpPr>
            <a:spLocks noGrp="1"/>
          </p:cNvSpPr>
          <p:nvPr/>
        </p:nvSpPr>
        <p:spPr>
          <a:xfrm>
            <a:off x="6038850" y="2984499"/>
            <a:ext cx="5295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建立</a:t>
            </a:r>
            <a:r>
              <a:rPr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3D </a:t>
            </a:r>
            <a:r>
              <a:rPr sz="1800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装配图、纸样与</a:t>
            </a:r>
            <a:r>
              <a:rPr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 A3 </a:t>
            </a:r>
            <a:r>
              <a:rPr sz="1800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图册</a:t>
            </a:r>
            <a:r>
              <a:rPr lang="zh-CN" altLang="en-US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并成功组装出原型机</a:t>
            </a:r>
            <a:endParaRPr sz="1800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progress-documents-counts">
            <a:extLst>
              <a:ext uri="{FF2B5EF4-FFF2-40B4-BE49-F238E27FC236}">
                <a16:creationId xmlns:a16="http://schemas.microsoft.com/office/drawing/2014/main" id="{4516E913-104E-48D6-B9F8-E10D45AEC4D2}"/>
              </a:ext>
            </a:extLst>
          </p:cNvPr>
          <p:cNvSpPr>
            <a:spLocks noGrp="1"/>
          </p:cNvSpPr>
          <p:nvPr/>
        </p:nvSpPr>
        <p:spPr>
          <a:xfrm>
            <a:off x="6038850" y="3327399"/>
            <a:ext cx="529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23 张纸样、11 页图册、59 行 BOM</a:t>
            </a:r>
          </a:p>
        </p:txBody>
      </p:sp>
      <p:sp>
        <p:nvSpPr>
          <p:cNvPr id="15" name="progress-before-competition-label">
            <a:extLst>
              <a:ext uri="{FF2B5EF4-FFF2-40B4-BE49-F238E27FC236}">
                <a16:creationId xmlns:a16="http://schemas.microsoft.com/office/drawing/2014/main" id="{85CAC7FA-9E6D-4628-8ED5-A50BE27C4CB6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8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dirty="0" err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赛前</a:t>
            </a:r>
            <a:r>
              <a:rPr lang="zh-CN" altLang="en-US" sz="1800" b="1" dirty="0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：</a:t>
            </a:r>
            <a:endParaRPr sz="1800" b="1" dirty="0">
              <a:solidFill>
                <a:srgbClr val="6B5B7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progress-before-competition-details">
            <a:extLst>
              <a:ext uri="{FF2B5EF4-FFF2-40B4-BE49-F238E27FC236}">
                <a16:creationId xmlns:a16="http://schemas.microsoft.com/office/drawing/2014/main" id="{AABA88F7-D98E-4063-973D-AE81D8F55B9F}"/>
              </a:ext>
            </a:extLst>
          </p:cNvPr>
          <p:cNvSpPr>
            <a:spLocks noGrp="1"/>
          </p:cNvSpPr>
          <p:nvPr/>
        </p:nvSpPr>
        <p:spPr>
          <a:xfrm>
            <a:off x="1371600" y="5654133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>
              <a:buNone/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只有</a:t>
            </a:r>
            <a:r>
              <a:rPr sz="1800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项目</a:t>
            </a:r>
            <a:r>
              <a:rPr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初步思路、豆商访谈与采购意向调研</a:t>
            </a:r>
            <a:r>
              <a:rPr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lang="zh-CN" altLang="en-US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开发板</a:t>
            </a:r>
            <a:r>
              <a:rPr lang="en-US" altLang="zh-CN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+</a:t>
            </a:r>
            <a:r>
              <a:rPr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摄像头与部分零组件</a:t>
            </a:r>
            <a:r>
              <a:rPr lang="zh-CN" altLang="en-US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未组装</a:t>
            </a:r>
            <a:endParaRPr sz="1800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progress-footer-rule">
            <a:extLst>
              <a:ext uri="{FF2B5EF4-FFF2-40B4-BE49-F238E27FC236}">
                <a16:creationId xmlns:a16="http://schemas.microsoft.com/office/drawing/2014/main" id="{962AD929-58DA-40D2-A07F-BE0A37A4C1E9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0"/>
          </a:xfrm>
          <a:prstGeom prst="line">
            <a:avLst/>
          </a:prstGeom>
          <a:noFill/>
          <a:ln w="11430">
            <a:solidFill>
              <a:srgbClr val="DA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progress-unmeasured-note">
            <a:extLst>
              <a:ext uri="{FF2B5EF4-FFF2-40B4-BE49-F238E27FC236}">
                <a16:creationId xmlns:a16="http://schemas.microsoft.com/office/drawing/2014/main" id="{3A3D37FB-8C21-4627-8C2A-EA8651FF43F0}"/>
              </a:ext>
            </a:extLst>
          </p:cNvPr>
          <p:cNvSpPr>
            <a:spLocks noGrp="1"/>
          </p:cNvSpPr>
          <p:nvPr/>
        </p:nvSpPr>
        <p:spPr>
          <a:xfrm>
            <a:off x="609600" y="6267450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单次投放量、识别准确性与处理耗时待测试确认</a:t>
            </a:r>
          </a:p>
        </p:txBody>
      </p:sp>
      <p:pic>
        <p:nvPicPr>
          <p:cNvPr id="21" name="图片 20" descr="图形用户界面, 网站&#10;&#10;AI 生成的内容可能不正确。">
            <a:extLst>
              <a:ext uri="{FF2B5EF4-FFF2-40B4-BE49-F238E27FC236}">
                <a16:creationId xmlns:a16="http://schemas.microsoft.com/office/drawing/2014/main" id="{1B83C47A-3E25-6E78-1B94-A8F986D4A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70100"/>
            <a:ext cx="493395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13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validation-brand">
            <a:extLst>
              <a:ext uri="{FF2B5EF4-FFF2-40B4-BE49-F238E27FC236}">
                <a16:creationId xmlns:a16="http://schemas.microsoft.com/office/drawing/2014/main" id="{DDBB489B-1DB8-409D-AAD8-AAEF52F2C9A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豆鉴 BeanLens</a:t>
            </a:r>
          </a:p>
        </p:txBody>
      </p:sp>
      <p:sp>
        <p:nvSpPr>
          <p:cNvPr id="2" name="validation-title">
            <a:extLst>
              <a:ext uri="{FF2B5EF4-FFF2-40B4-BE49-F238E27FC236}">
                <a16:creationId xmlns:a16="http://schemas.microsoft.com/office/drawing/2014/main" id="{98C0624B-E54E-4157-AA48-2D1E16AAA7D0}"/>
              </a:ext>
            </a:extLst>
          </p:cNvPr>
          <p:cNvSpPr>
            <a:spLocks noGrp="1"/>
          </p:cNvSpPr>
          <p:nvPr/>
        </p:nvSpPr>
        <p:spPr>
          <a:xfrm>
            <a:off x="609600" y="752475"/>
            <a:ext cx="109728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功能已跑通，性能待实测</a:t>
            </a:r>
          </a:p>
        </p:txBody>
      </p:sp>
      <p:sp>
        <p:nvSpPr>
          <p:cNvPr id="3" name="validation-subtitle">
            <a:extLst>
              <a:ext uri="{FF2B5EF4-FFF2-40B4-BE49-F238E27FC236}">
                <a16:creationId xmlns:a16="http://schemas.microsoft.com/office/drawing/2014/main" id="{38DE7FDD-FAE4-457E-854F-E4FF3EE2A13E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记录投放量、独立测试样本量与端到端耗时</a:t>
            </a:r>
          </a:p>
        </p:txBody>
      </p:sp>
      <p:sp>
        <p:nvSpPr>
          <p:cNvPr id="4" name="validation-completed-title">
            <a:extLst>
              <a:ext uri="{FF2B5EF4-FFF2-40B4-BE49-F238E27FC236}">
                <a16:creationId xmlns:a16="http://schemas.microsoft.com/office/drawing/2014/main" id="{AD45AEB6-9D8E-425D-94F9-9709E790D56F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3581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已完成的功能演示</a:t>
            </a:r>
          </a:p>
        </p:txBody>
      </p:sp>
      <p:sp>
        <p:nvSpPr>
          <p:cNvPr id="5" name="validation-completed-input">
            <a:extLst>
              <a:ext uri="{FF2B5EF4-FFF2-40B4-BE49-F238E27FC236}">
                <a16:creationId xmlns:a16="http://schemas.microsoft.com/office/drawing/2014/main" id="{59DEB771-7775-4A9D-B56B-EB420EE4FDF2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3581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投豆、双摄采集</a:t>
            </a:r>
          </a:p>
        </p:txBody>
      </p:sp>
      <p:sp>
        <p:nvSpPr>
          <p:cNvPr id="6" name="validation-completed-inference">
            <a:extLst>
              <a:ext uri="{FF2B5EF4-FFF2-40B4-BE49-F238E27FC236}">
                <a16:creationId xmlns:a16="http://schemas.microsoft.com/office/drawing/2014/main" id="{D4E5B032-A30C-4129-A699-685C619A7BDF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3581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K230D 端侧识别计点</a:t>
            </a:r>
          </a:p>
        </p:txBody>
      </p:sp>
      <p:sp>
        <p:nvSpPr>
          <p:cNvPr id="7" name="validation-completed-screen">
            <a:extLst>
              <a:ext uri="{FF2B5EF4-FFF2-40B4-BE49-F238E27FC236}">
                <a16:creationId xmlns:a16="http://schemas.microsoft.com/office/drawing/2014/main" id="{DADF1CF6-72C2-47BB-B39B-69F11B458C01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3581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电子屏展示四项检测结果</a:t>
            </a:r>
          </a:p>
        </p:txBody>
      </p:sp>
      <p:sp>
        <p:nvSpPr>
          <p:cNvPr id="8" name="validation-method-title">
            <a:extLst>
              <a:ext uri="{FF2B5EF4-FFF2-40B4-BE49-F238E27FC236}">
                <a16:creationId xmlns:a16="http://schemas.microsoft.com/office/drawing/2014/main" id="{FD5DBD48-7F4D-4565-933C-CB66F571C993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3581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测试口径</a:t>
            </a:r>
          </a:p>
        </p:txBody>
      </p:sp>
      <p:sp>
        <p:nvSpPr>
          <p:cNvPr id="9" name="validation-method-classification">
            <a:extLst>
              <a:ext uri="{FF2B5EF4-FFF2-40B4-BE49-F238E27FC236}">
                <a16:creationId xmlns:a16="http://schemas.microsoft.com/office/drawing/2014/main" id="{F6B53FF8-B262-43F0-9552-F681F1086398}"/>
              </a:ext>
            </a:extLst>
          </p:cNvPr>
          <p:cNvSpPr>
            <a:spLocks noGrp="1"/>
          </p:cNvSpPr>
          <p:nvPr/>
        </p:nvSpPr>
        <p:spPr>
          <a:xfrm>
            <a:off x="609600" y="4943475"/>
            <a:ext cx="3581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每批记录实际投放量</a:t>
            </a:r>
            <a:endParaRPr sz="1725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validation-method-timing-line1">
            <a:extLst>
              <a:ext uri="{FF2B5EF4-FFF2-40B4-BE49-F238E27FC236}">
                <a16:creationId xmlns:a16="http://schemas.microsoft.com/office/drawing/2014/main" id="{F459EDAD-80C1-4A38-9595-C24B6319BAF6}"/>
              </a:ext>
            </a:extLst>
          </p:cNvPr>
          <p:cNvSpPr>
            <a:spLocks noGrp="1"/>
          </p:cNvSpPr>
          <p:nvPr/>
        </p:nvSpPr>
        <p:spPr>
          <a:xfrm>
            <a:off x="609600" y="5305425"/>
            <a:ext cx="3581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从投豆开始，到屏幕显示</a:t>
            </a:r>
          </a:p>
        </p:txBody>
      </p:sp>
      <p:sp>
        <p:nvSpPr>
          <p:cNvPr id="11" name="validation-method-timing-line2">
            <a:extLst>
              <a:ext uri="{FF2B5EF4-FFF2-40B4-BE49-F238E27FC236}">
                <a16:creationId xmlns:a16="http://schemas.microsoft.com/office/drawing/2014/main" id="{F107BEB4-027E-4E53-A173-F3C2832D9FD7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3581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本批结果结束</a:t>
            </a:r>
            <a:endParaRPr sz="1725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BFE1349-CE65-4103-844C-B4C8A9AFD95D}"/>
              </a:ext>
            </a:extLst>
          </p:cNvPr>
          <p:cNvGraphicFramePr/>
          <p:nvPr/>
        </p:nvGraphicFramePr>
        <p:xfrm>
          <a:off x="4533900" y="2181225"/>
          <a:ext cx="7048500" cy="299085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待测指标</a:t>
                      </a:r>
                    </a:p>
                  </a:txBody>
                  <a:tcPr marL="171450" marR="152400" marT="76200" marB="76200" anchor="ctr">
                    <a:lnL w="9525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>
                      <a:solidFill>
                        <a:srgbClr val="DAD0DC"/>
                      </a:solidFill>
                      <a:prstDash val="soli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6B5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预填占位（待实测）</a:t>
                      </a:r>
                    </a:p>
                  </a:txBody>
                  <a:tcPr marL="171450" marR="152400" marT="76200" marB="76200" anchor="ctr">
                    <a:lnL w="9525" cmpd="sng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>
                      <a:solidFill>
                        <a:srgbClr val="DAD0DC"/>
                      </a:solidFill>
                      <a:prstDash val="solid"/>
                    </a:lnT>
                    <a:lnB w="9525" cmpd="sng">
                      <a:solidFill>
                        <a:srgbClr val="DAD0DC"/>
                      </a:solidFill>
                      <a:prstDash val="solid"/>
                    </a:lnB>
                    <a:solidFill>
                      <a:srgbClr val="6B5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单次投放量</a:t>
                      </a:r>
                    </a:p>
                  </a:txBody>
                  <a:tcPr marL="171450" marR="152400" marT="76200" marB="76200" anchor="ctr">
                    <a:lnL w="9525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mpd="sng">
                      <a:solidFill>
                        <a:srgbClr val="DAD0DC"/>
                      </a:solidFill>
                      <a:prstDash val="soli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6B5B7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待实测：5 颗/批</a:t>
                      </a:r>
                    </a:p>
                  </a:txBody>
                  <a:tcPr marL="171450" marR="152400" marT="76200" marB="76200" anchor="ctr">
                    <a:lnL w="9525" cmpd="sng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mpd="sng">
                      <a:solidFill>
                        <a:srgbClr val="DAD0DC"/>
                      </a:solidFill>
                      <a:prstDash val="solid"/>
                    </a:lnT>
                    <a:lnB w="9525" cmpd="sng">
                      <a:solidFill>
                        <a:srgbClr val="DAD0DC"/>
                      </a:solidFill>
                      <a:prstDash val="solid"/>
                    </a:lnB>
                    <a:solidFill>
                      <a:srgbClr val="EE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独立测试样本量</a:t>
                      </a:r>
                    </a:p>
                  </a:txBody>
                  <a:tcPr marL="171450" marR="152400" marT="76200" marB="76200" anchor="ctr">
                    <a:lnL w="9525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mpd="sng">
                      <a:solidFill>
                        <a:srgbClr val="DAD0DC"/>
                      </a:solidFill>
                      <a:prstDash val="soli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6B5B7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待实测：100 颗</a:t>
                      </a:r>
                    </a:p>
                  </a:txBody>
                  <a:tcPr marL="171450" marR="152400" marT="76200" marB="76200" anchor="ctr">
                    <a:lnL w="9525" cmpd="sng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mpd="sng">
                      <a:solidFill>
                        <a:srgbClr val="DAD0DC"/>
                      </a:solidFill>
                      <a:prstDash val="solid"/>
                    </a:lnT>
                    <a:lnB w="9525" cmpd="sng">
                      <a:solidFill>
                        <a:srgbClr val="DAD0DC"/>
                      </a:solidFill>
                      <a:prstDash val="solid"/>
                    </a:lnB>
                    <a:solidFill>
                      <a:srgbClr val="EE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单批端到端耗时</a:t>
                      </a:r>
                    </a:p>
                  </a:txBody>
                  <a:tcPr marL="171450" marR="152400" marT="76200" marB="76200" anchor="ctr">
                    <a:lnL w="9525">
                      <a:solidFill>
                        <a:srgbClr val="DAD0DC"/>
                      </a:solidFill>
                      <a:prstDash val="solid"/>
                    </a:lnL>
                    <a:lnR w="9525" cmpd="sng">
                      <a:solidFill>
                        <a:srgbClr val="DAD0DC"/>
                      </a:solidFill>
                      <a:prstDash val="solid"/>
                    </a:lnR>
                    <a:lnT w="9525" cmpd="sng">
                      <a:solidFill>
                        <a:srgbClr val="DAD0DC"/>
                      </a:solidFill>
                      <a:prstDash val="soli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6B5B7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待实测：5 秒/批</a:t>
                      </a:r>
                    </a:p>
                  </a:txBody>
                  <a:tcPr marL="171450" marR="152400" marT="76200" marB="76200" anchor="ctr">
                    <a:lnL w="9525" cmpd="sng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mpd="sng">
                      <a:solidFill>
                        <a:srgbClr val="DAD0DC"/>
                      </a:solidFill>
                      <a:prstDash val="solid"/>
                    </a:lnT>
                    <a:lnB w="9525" cmpd="sng">
                      <a:solidFill>
                        <a:srgbClr val="DAD0DC"/>
                      </a:solidFill>
                      <a:prstDash val="solid"/>
                    </a:lnB>
                    <a:solidFill>
                      <a:srgbClr val="EE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62566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完整 350g 样本耗时</a:t>
                      </a:r>
                    </a:p>
                  </a:txBody>
                  <a:tcPr marL="171450" marR="152400" marT="76200" marB="76200" anchor="ctr">
                    <a:lnL w="9525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mpd="sng">
                      <a:solidFill>
                        <a:srgbClr val="DAD0DC"/>
                      </a:solidFill>
                      <a:prstDash val="soli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6B5B7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待实测：1.5 分钟</a:t>
                      </a:r>
                    </a:p>
                  </a:txBody>
                  <a:tcPr marL="171450" marR="152400" marT="76200" marB="76200" anchor="ctr">
                    <a:lnL w="9525" cmpd="sng">
                      <a:solidFill>
                        <a:srgbClr val="DAD0DC"/>
                      </a:solidFill>
                      <a:prstDash val="solid"/>
                    </a:lnL>
                    <a:lnR w="9525">
                      <a:solidFill>
                        <a:srgbClr val="DAD0DC"/>
                      </a:solidFill>
                      <a:prstDash val="solid"/>
                    </a:lnR>
                    <a:lnT w="9525" cmpd="sng">
                      <a:solidFill>
                        <a:srgbClr val="DAD0DC"/>
                      </a:solidFill>
                      <a:prstDash val="solid"/>
                    </a:lnT>
                    <a:lnB w="9525">
                      <a:solidFill>
                        <a:srgbClr val="DAD0DC"/>
                      </a:solidFill>
                      <a:prstDash val="solid"/>
                    </a:lnB>
                    <a:solidFill>
                      <a:srgbClr val="EE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validation-footer-rule">
            <a:extLst>
              <a:ext uri="{FF2B5EF4-FFF2-40B4-BE49-F238E27FC236}">
                <a16:creationId xmlns:a16="http://schemas.microsoft.com/office/drawing/2014/main" id="{C1BA8A22-C544-4643-9E1C-E32C3B2AE951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0"/>
          </a:xfrm>
          <a:prstGeom prst="line">
            <a:avLst/>
          </a:prstGeom>
          <a:noFill/>
          <a:ln w="11430">
            <a:solidFill>
              <a:srgbClr val="DA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validation-scope-note">
            <a:extLst>
              <a:ext uri="{FF2B5EF4-FFF2-40B4-BE49-F238E27FC236}">
                <a16:creationId xmlns:a16="http://schemas.microsoft.com/office/drawing/2014/main" id="{EBDFDD18-1F0D-4123-8B13-65CCD77F4FF7}"/>
              </a:ext>
            </a:extLst>
          </p:cNvPr>
          <p:cNvSpPr>
            <a:spLocks noGrp="1"/>
          </p:cNvSpPr>
          <p:nvPr/>
        </p:nvSpPr>
        <p:spPr>
          <a:xfrm>
            <a:off x="609600" y="6267450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表中数字为预填占位，实测后替换；350g 指完整测试样本重量</a:t>
            </a:r>
          </a:p>
        </p:txBody>
      </p:sp>
    </p:spTree>
    <p:extLst>
      <p:ext uri="{BB962C8B-B14F-4D97-AF65-F5344CB8AC3E}">
        <p14:creationId xmlns:p14="http://schemas.microsoft.com/office/powerpoint/2010/main" val="1139724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st-brand">
            <a:extLst>
              <a:ext uri="{FF2B5EF4-FFF2-40B4-BE49-F238E27FC236}">
                <a16:creationId xmlns:a16="http://schemas.microsoft.com/office/drawing/2014/main" id="{925AFD05-F9B6-4398-9693-E8AEB9FB39A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豆鉴 BeanLens</a:t>
            </a:r>
          </a:p>
        </p:txBody>
      </p:sp>
      <p:sp>
        <p:nvSpPr>
          <p:cNvPr id="2" name="cost-title">
            <a:extLst>
              <a:ext uri="{FF2B5EF4-FFF2-40B4-BE49-F238E27FC236}">
                <a16:creationId xmlns:a16="http://schemas.microsoft.com/office/drawing/2014/main" id="{F8A3519F-61D6-4B48-A8A9-2C0FEDABCF75}"/>
              </a:ext>
            </a:extLst>
          </p:cNvPr>
          <p:cNvSpPr>
            <a:spLocks noGrp="1"/>
          </p:cNvSpPr>
          <p:nvPr/>
        </p:nvSpPr>
        <p:spPr>
          <a:xfrm>
            <a:off x="609600" y="752475"/>
            <a:ext cx="109728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600元做出一台可运行的检测台</a:t>
            </a:r>
          </a:p>
        </p:txBody>
      </p:sp>
      <p:sp>
        <p:nvSpPr>
          <p:cNvPr id="3" name="cost-subtitle">
            <a:extLst>
              <a:ext uri="{FF2B5EF4-FFF2-40B4-BE49-F238E27FC236}">
                <a16:creationId xmlns:a16="http://schemas.microsoft.com/office/drawing/2014/main" id="{97814793-F99E-43F2-8549-8007A1959668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下一步验证批量检测能力</a:t>
            </a:r>
            <a:r>
              <a:rPr sz="202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，</a:t>
            </a:r>
            <a:r>
              <a:rPr lang="zh-CN" altLang="en-US" sz="202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优化</a:t>
            </a:r>
            <a:r>
              <a:rPr lang="zh-CN" altLang="en-US" sz="2025" b="1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滑落控制与拍摄成像识别</a:t>
            </a:r>
            <a:r>
              <a:rPr lang="zh-CN" altLang="en-US" sz="2025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，</a:t>
            </a:r>
            <a:r>
              <a:rPr sz="2025" b="0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并推进实际场景试用</a:t>
            </a:r>
            <a:endParaRPr sz="2025" b="0" dirty="0">
              <a:solidFill>
                <a:srgbClr val="8B7D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cost-actual-cost-label">
            <a:extLst>
              <a:ext uri="{FF2B5EF4-FFF2-40B4-BE49-F238E27FC236}">
                <a16:creationId xmlns:a16="http://schemas.microsoft.com/office/drawing/2014/main" id="{DFD4FB96-6834-4992-93C5-13FFCA619985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5105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当前样机实际采购成本</a:t>
            </a:r>
          </a:p>
        </p:txBody>
      </p:sp>
      <p:sp>
        <p:nvSpPr>
          <p:cNvPr id="8" name="cost-actual-cost-value">
            <a:extLst>
              <a:ext uri="{FF2B5EF4-FFF2-40B4-BE49-F238E27FC236}">
                <a16:creationId xmlns:a16="http://schemas.microsoft.com/office/drawing/2014/main" id="{15530C8A-F9C0-4844-A6A5-34E86C75856D}"/>
              </a:ext>
            </a:extLst>
          </p:cNvPr>
          <p:cNvSpPr>
            <a:spLocks noGrp="1"/>
          </p:cNvSpPr>
          <p:nvPr/>
        </p:nvSpPr>
        <p:spPr>
          <a:xfrm>
            <a:off x="6477000" y="2695575"/>
            <a:ext cx="5105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7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57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57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57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57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57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57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57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57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57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57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¥600</a:t>
            </a:r>
          </a:p>
        </p:txBody>
      </p:sp>
      <p:sp>
        <p:nvSpPr>
          <p:cNvPr id="9" name="cost-willingness-price-label">
            <a:extLst>
              <a:ext uri="{FF2B5EF4-FFF2-40B4-BE49-F238E27FC236}">
                <a16:creationId xmlns:a16="http://schemas.microsoft.com/office/drawing/2014/main" id="{D988B2B7-9E02-44CB-9CFC-3A572B24E823}"/>
              </a:ext>
            </a:extLst>
          </p:cNvPr>
          <p:cNvSpPr>
            <a:spLocks noGrp="1"/>
          </p:cNvSpPr>
          <p:nvPr/>
        </p:nvSpPr>
        <p:spPr>
          <a:xfrm>
            <a:off x="6477000" y="3933825"/>
            <a:ext cx="5105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上游访谈采购意向价</a:t>
            </a:r>
          </a:p>
        </p:txBody>
      </p:sp>
      <p:sp>
        <p:nvSpPr>
          <p:cNvPr id="10" name="cost-willingness-price-value">
            <a:extLst>
              <a:ext uri="{FF2B5EF4-FFF2-40B4-BE49-F238E27FC236}">
                <a16:creationId xmlns:a16="http://schemas.microsoft.com/office/drawing/2014/main" id="{84F2FC86-D11F-41AD-9E64-6318E345C29E}"/>
              </a:ext>
            </a:extLst>
          </p:cNvPr>
          <p:cNvSpPr>
            <a:spLocks noGrp="1"/>
          </p:cNvSpPr>
          <p:nvPr/>
        </p:nvSpPr>
        <p:spPr>
          <a:xfrm>
            <a:off x="6477000" y="4333875"/>
            <a:ext cx="5105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34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¥2,000–3,000</a:t>
            </a:r>
          </a:p>
        </p:txBody>
      </p:sp>
      <p:sp>
        <p:nvSpPr>
          <p:cNvPr id="11" name="cost-batch-test-title">
            <a:extLst>
              <a:ext uri="{FF2B5EF4-FFF2-40B4-BE49-F238E27FC236}">
                <a16:creationId xmlns:a16="http://schemas.microsoft.com/office/drawing/2014/main" id="{62C387C2-7CBB-4B4C-BA14-AF40B594D4AF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批量投豆测试</a:t>
            </a:r>
          </a:p>
        </p:txBody>
      </p:sp>
      <p:sp>
        <p:nvSpPr>
          <p:cNvPr id="12" name="cost-batch-test-description">
            <a:extLst>
              <a:ext uri="{FF2B5EF4-FFF2-40B4-BE49-F238E27FC236}">
                <a16:creationId xmlns:a16="http://schemas.microsoft.com/office/drawing/2014/main" id="{422A287F-42E4-47F2-B7AE-80F30B2D37C2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核对投放量、分类结果与耗时</a:t>
            </a:r>
          </a:p>
        </p:txBody>
      </p:sp>
      <p:sp>
        <p:nvSpPr>
          <p:cNvPr id="13" name="cost-customer-trial-title">
            <a:extLst>
              <a:ext uri="{FF2B5EF4-FFF2-40B4-BE49-F238E27FC236}">
                <a16:creationId xmlns:a16="http://schemas.microsoft.com/office/drawing/2014/main" id="{4438A863-0258-4AB5-8ECB-2B410DD4764A}"/>
              </a:ext>
            </a:extLst>
          </p:cNvPr>
          <p:cNvSpPr>
            <a:spLocks noGrp="1"/>
          </p:cNvSpPr>
          <p:nvPr/>
        </p:nvSpPr>
        <p:spPr>
          <a:xfrm>
            <a:off x="6477000" y="5334000"/>
            <a:ext cx="5105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6B5B73"/>
                </a:solidFill>
                <a:latin typeface="Hiragino Sans GB"/>
                <a:ea typeface="Hiragino Sans GB"/>
                <a:cs typeface="Hiragino Sans GB"/>
              </a:rPr>
              <a:t>收购端与烘焙厂试用</a:t>
            </a:r>
          </a:p>
        </p:txBody>
      </p:sp>
      <p:sp>
        <p:nvSpPr>
          <p:cNvPr id="14" name="cost-customer-trial-description">
            <a:extLst>
              <a:ext uri="{FF2B5EF4-FFF2-40B4-BE49-F238E27FC236}">
                <a16:creationId xmlns:a16="http://schemas.microsoft.com/office/drawing/2014/main" id="{97C52E66-4393-46B1-A5A8-73A38679D188}"/>
              </a:ext>
            </a:extLst>
          </p:cNvPr>
          <p:cNvSpPr>
            <a:spLocks noGrp="1"/>
          </p:cNvSpPr>
          <p:nvPr/>
        </p:nvSpPr>
        <p:spPr>
          <a:xfrm>
            <a:off x="6477000" y="5743575"/>
            <a:ext cx="510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验证采购意向能否转为订单</a:t>
            </a:r>
          </a:p>
        </p:txBody>
      </p:sp>
      <p:sp>
        <p:nvSpPr>
          <p:cNvPr id="15" name="cost-footer-rule">
            <a:extLst>
              <a:ext uri="{FF2B5EF4-FFF2-40B4-BE49-F238E27FC236}">
                <a16:creationId xmlns:a16="http://schemas.microsoft.com/office/drawing/2014/main" id="{AFE5FB64-3203-468B-B1EB-7CDC55FE5829}"/>
              </a:ext>
            </a:extLst>
          </p:cNvPr>
          <p:cNvSpPr>
            <a:spLocks noGrp="1"/>
          </p:cNvSpPr>
          <p:nvPr/>
        </p:nvSpPr>
        <p:spPr>
          <a:xfrm>
            <a:off x="609600" y="6200775"/>
            <a:ext cx="10972800" cy="0"/>
          </a:xfrm>
          <a:prstGeom prst="line">
            <a:avLst/>
          </a:prstGeom>
          <a:noFill/>
          <a:ln w="11430">
            <a:solidFill>
              <a:srgbClr val="DA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cost-cost-scope-note">
            <a:extLst>
              <a:ext uri="{FF2B5EF4-FFF2-40B4-BE49-F238E27FC236}">
                <a16:creationId xmlns:a16="http://schemas.microsoft.com/office/drawing/2014/main" id="{CCBB322E-F716-4E32-8AB5-F7D7CB09F663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buNone/>
              <a:def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600元为当前样机采购成本，量产全成本待核算；意向价并非成交价</a:t>
            </a:r>
          </a:p>
        </p:txBody>
      </p:sp>
      <p:pic>
        <p:nvPicPr>
          <p:cNvPr id="19" name="图片 18" descr="图片包含 图示&#10;&#10;AI 生成的内容可能不正确。">
            <a:extLst>
              <a:ext uri="{FF2B5EF4-FFF2-40B4-BE49-F238E27FC236}">
                <a16:creationId xmlns:a16="http://schemas.microsoft.com/office/drawing/2014/main" id="{040991C6-AF07-27F2-C609-E5F87FECD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47626"/>
            <a:ext cx="4793863" cy="30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00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rand">
            <a:extLst>
              <a:ext uri="{FF2B5EF4-FFF2-40B4-BE49-F238E27FC236}">
                <a16:creationId xmlns:a16="http://schemas.microsoft.com/office/drawing/2014/main" id="{F4A02864-C7BA-4320-BD82-7B379C4DF8D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豆鉴 BeanLens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2952B07-F95E-42E3-B906-560895E5320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90万元，从样机到生意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B5CF979-9AF1-4092-8388-90D197F15EBE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自建产能的18个月规划，先完成验证，再推进小批量交付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56EEF157-C95B-4B05-9380-C75F49AB809C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DAD0D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cope-note">
            <a:extLst>
              <a:ext uri="{FF2B5EF4-FFF2-40B4-BE49-F238E27FC236}">
                <a16:creationId xmlns:a16="http://schemas.microsoft.com/office/drawing/2014/main" id="{8232D89B-9E80-4564-937A-16D68855362D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全页为规划预测；M1为计划启动月。仅计硬件收入，未含税费、运费与新增研发</a:t>
            </a:r>
          </a:p>
        </p:txBody>
      </p:sp>
      <p:sp>
        <p:nvSpPr>
          <p:cNvPr id="6" name="funding-label">
            <a:extLst>
              <a:ext uri="{FF2B5EF4-FFF2-40B4-BE49-F238E27FC236}">
                <a16:creationId xmlns:a16="http://schemas.microsoft.com/office/drawing/2014/main" id="{ABE533AF-F545-42A5-8981-6C03F1FD5E6E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资金规划</a:t>
            </a:r>
          </a:p>
        </p:txBody>
      </p:sp>
      <p:sp>
        <p:nvSpPr>
          <p:cNvPr id="7" name="funding-50">
            <a:extLst>
              <a:ext uri="{FF2B5EF4-FFF2-40B4-BE49-F238E27FC236}">
                <a16:creationId xmlns:a16="http://schemas.microsoft.com/office/drawing/2014/main" id="{B8141F0D-7C53-4AB8-B10F-29D6C3D684B8}"/>
              </a:ext>
            </a:extLst>
          </p:cNvPr>
          <p:cNvSpPr>
            <a:spLocks noGrp="1"/>
          </p:cNvSpPr>
          <p:nvPr/>
        </p:nvSpPr>
        <p:spPr>
          <a:xfrm>
            <a:off x="609600" y="2562225"/>
            <a:ext cx="1428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50 万</a:t>
            </a:r>
          </a:p>
        </p:txBody>
      </p:sp>
      <p:sp>
        <p:nvSpPr>
          <p:cNvPr id="8" name="funding-50-label">
            <a:extLst>
              <a:ext uri="{FF2B5EF4-FFF2-40B4-BE49-F238E27FC236}">
                <a16:creationId xmlns:a16="http://schemas.microsoft.com/office/drawing/2014/main" id="{3047EB0F-C43D-4938-BE16-82A2422E20FE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4478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种子轮</a:t>
            </a:r>
          </a:p>
          <a:p>
            <a: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验证期经营</a:t>
            </a:r>
          </a:p>
        </p:txBody>
      </p:sp>
      <p:sp>
        <p:nvSpPr>
          <p:cNvPr id="9" name="funding-40">
            <a:extLst>
              <a:ext uri="{FF2B5EF4-FFF2-40B4-BE49-F238E27FC236}">
                <a16:creationId xmlns:a16="http://schemas.microsoft.com/office/drawing/2014/main" id="{8A2A1B44-EE04-4504-B466-29196623A305}"/>
              </a:ext>
            </a:extLst>
          </p:cNvPr>
          <p:cNvSpPr>
            <a:spLocks noGrp="1"/>
          </p:cNvSpPr>
          <p:nvPr/>
        </p:nvSpPr>
        <p:spPr>
          <a:xfrm>
            <a:off x="2247900" y="2562225"/>
            <a:ext cx="1428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40 万</a:t>
            </a:r>
          </a:p>
        </p:txBody>
      </p:sp>
      <p:sp>
        <p:nvSpPr>
          <p:cNvPr id="10" name="funding-40-label">
            <a:extLst>
              <a:ext uri="{FF2B5EF4-FFF2-40B4-BE49-F238E27FC236}">
                <a16:creationId xmlns:a16="http://schemas.microsoft.com/office/drawing/2014/main" id="{725F7DC4-7308-43DC-B2D4-736430647427}"/>
              </a:ext>
            </a:extLst>
          </p:cNvPr>
          <p:cNvSpPr>
            <a:spLocks noGrp="1"/>
          </p:cNvSpPr>
          <p:nvPr/>
        </p:nvSpPr>
        <p:spPr>
          <a:xfrm>
            <a:off x="2247900" y="314325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产业化</a:t>
            </a:r>
          </a:p>
          <a:p>
            <a: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产能建设</a:t>
            </a:r>
          </a:p>
        </p:txBody>
      </p:sp>
      <p:sp>
        <p:nvSpPr>
          <p:cNvPr id="11" name="funding-divider">
            <a:extLst>
              <a:ext uri="{FF2B5EF4-FFF2-40B4-BE49-F238E27FC236}">
                <a16:creationId xmlns:a16="http://schemas.microsoft.com/office/drawing/2014/main" id="{CBA1938D-9B23-4D5A-B5A0-6559125FBE13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3105150" cy="9525"/>
          </a:xfrm>
          <a:prstGeom prst="rect">
            <a:avLst/>
          </a:prstGeom>
          <a:solidFill>
            <a:srgbClr val="DAD0D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capex-value">
            <a:extLst>
              <a:ext uri="{FF2B5EF4-FFF2-40B4-BE49-F238E27FC236}">
                <a16:creationId xmlns:a16="http://schemas.microsoft.com/office/drawing/2014/main" id="{9659939E-DDB3-4AAF-A7BF-F1BAA9E46205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310515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26.7 万</a:t>
            </a:r>
          </a:p>
        </p:txBody>
      </p:sp>
      <p:sp>
        <p:nvSpPr>
          <p:cNvPr id="13" name="capex-label">
            <a:extLst>
              <a:ext uri="{FF2B5EF4-FFF2-40B4-BE49-F238E27FC236}">
                <a16:creationId xmlns:a16="http://schemas.microsoft.com/office/drawing/2014/main" id="{3C2DEBCD-3007-4A5E-93CC-62E8D7BE6755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31051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设备、模具与场地投入</a:t>
            </a:r>
          </a:p>
        </p:txBody>
      </p:sp>
      <p:sp>
        <p:nvSpPr>
          <p:cNvPr id="14" name="cash-value">
            <a:extLst>
              <a:ext uri="{FF2B5EF4-FFF2-40B4-BE49-F238E27FC236}">
                <a16:creationId xmlns:a16="http://schemas.microsoft.com/office/drawing/2014/main" id="{42A654FD-A13D-4F56-BC5A-F028BA7E7D9A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310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5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5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5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5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5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5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5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5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5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5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rPr>
              <a:t>21.1 万</a:t>
            </a:r>
          </a:p>
        </p:txBody>
      </p:sp>
      <p:sp>
        <p:nvSpPr>
          <p:cNvPr id="15" name="cash-label">
            <a:extLst>
              <a:ext uri="{FF2B5EF4-FFF2-40B4-BE49-F238E27FC236}">
                <a16:creationId xmlns:a16="http://schemas.microsoft.com/office/drawing/2014/main" id="{62C82354-4869-449F-8E7C-1BB6D469B95F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31051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最低现金余额，预计 M12</a:t>
            </a:r>
          </a:p>
        </p:txBody>
      </p:sp>
      <p:graphicFrame>
        <p:nvGraphicFramePr>
          <p:cNvPr id="16" name="Chart">
            <a:extLst>
              <a:ext uri="{FF2B5EF4-FFF2-40B4-BE49-F238E27FC236}">
                <a16:creationId xmlns:a16="http://schemas.microsoft.com/office/drawing/2014/main" id="{1BF8A4A0-E5F2-4BC6-AE27-2F8DD4983462}"/>
              </a:ext>
            </a:extLst>
          </p:cNvPr>
          <p:cNvGraphicFramePr/>
          <p:nvPr/>
        </p:nvGraphicFramePr>
        <p:xfrm>
          <a:off x="4048125" y="2095500"/>
          <a:ext cx="7534275" cy="3067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imeline-m6">
            <a:extLst>
              <a:ext uri="{FF2B5EF4-FFF2-40B4-BE49-F238E27FC236}">
                <a16:creationId xmlns:a16="http://schemas.microsoft.com/office/drawing/2014/main" id="{F9194488-8656-45D6-A084-40E1FADAA111}"/>
              </a:ext>
            </a:extLst>
          </p:cNvPr>
          <p:cNvSpPr>
            <a:spLocks noGrp="1"/>
          </p:cNvSpPr>
          <p:nvPr/>
        </p:nvSpPr>
        <p:spPr>
          <a:xfrm>
            <a:off x="4276725" y="5181600"/>
            <a:ext cx="21526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M6  工程样机定型</a:t>
            </a:r>
          </a:p>
        </p:txBody>
      </p:sp>
      <p:sp>
        <p:nvSpPr>
          <p:cNvPr id="18" name="timeline-m7">
            <a:extLst>
              <a:ext uri="{FF2B5EF4-FFF2-40B4-BE49-F238E27FC236}">
                <a16:creationId xmlns:a16="http://schemas.microsoft.com/office/drawing/2014/main" id="{EB4E844C-EADA-4E5E-AA27-496A5E02425A}"/>
              </a:ext>
            </a:extLst>
          </p:cNvPr>
          <p:cNvSpPr>
            <a:spLocks noGrp="1"/>
          </p:cNvSpPr>
          <p:nvPr/>
        </p:nvSpPr>
        <p:spPr>
          <a:xfrm>
            <a:off x="6819900" y="5181600"/>
            <a:ext cx="2019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6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M7  </a:t>
            </a:r>
            <a:r>
              <a:rPr sz="1650" b="1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首批出货</a:t>
            </a:r>
            <a:endParaRPr sz="1650" b="1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timeline-m13">
            <a:extLst>
              <a:ext uri="{FF2B5EF4-FFF2-40B4-BE49-F238E27FC236}">
                <a16:creationId xmlns:a16="http://schemas.microsoft.com/office/drawing/2014/main" id="{EB5DA8B0-3236-4F71-8362-7CAACA6370EE}"/>
              </a:ext>
            </a:extLst>
          </p:cNvPr>
          <p:cNvSpPr>
            <a:spLocks noGrp="1"/>
          </p:cNvSpPr>
          <p:nvPr/>
        </p:nvSpPr>
        <p:spPr>
          <a:xfrm>
            <a:off x="9086850" y="5181600"/>
            <a:ext cx="24955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6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rPr>
              <a:t>M13  月净现金转正</a:t>
            </a:r>
          </a:p>
        </p:txBody>
      </p:sp>
      <p:sp>
        <p:nvSpPr>
          <p:cNvPr id="20" name="steady-cash">
            <a:extLst>
              <a:ext uri="{FF2B5EF4-FFF2-40B4-BE49-F238E27FC236}">
                <a16:creationId xmlns:a16="http://schemas.microsoft.com/office/drawing/2014/main" id="{6F2DB58C-511A-4D4B-BA88-72EC7F3717C4}"/>
              </a:ext>
            </a:extLst>
          </p:cNvPr>
          <p:cNvSpPr>
            <a:spLocks noGrp="1"/>
          </p:cNvSpPr>
          <p:nvPr/>
        </p:nvSpPr>
        <p:spPr>
          <a:xfrm>
            <a:off x="4267200" y="5600700"/>
            <a:ext cx="73152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rPr>
              <a:t>放量假设 45 台/月，稳定期月净现金流约 1.1 万元</a:t>
            </a:r>
          </a:p>
        </p:txBody>
      </p:sp>
    </p:spTree>
    <p:extLst>
      <p:ext uri="{BB962C8B-B14F-4D97-AF65-F5344CB8AC3E}">
        <p14:creationId xmlns:p14="http://schemas.microsoft.com/office/powerpoint/2010/main" val="1809433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rand">
            <a:extLst>
              <a:ext uri="{FF2B5EF4-FFF2-40B4-BE49-F238E27FC236}">
                <a16:creationId xmlns:a16="http://schemas.microsoft.com/office/drawing/2014/main" id="{D746ABF6-C476-4EAB-9CD2-E2B7F5F00CC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豆鉴 BeanLens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CEB6942-5DBF-4F0A-BD72-7B146008F17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36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投产后的收益空间</a:t>
            </a:r>
            <a:endParaRPr sz="3600" b="1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4CAC96B-4237-4708-8735-E2F4EE69AA56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整机销售先验证成交，再用持续交付检验盈利模型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852BBAC4-2E8F-46A7-BFCD-2EB7A78F3ECE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DAD0D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cope-note">
            <a:extLst>
              <a:ext uri="{FF2B5EF4-FFF2-40B4-BE49-F238E27FC236}">
                <a16:creationId xmlns:a16="http://schemas.microsoft.com/office/drawing/2014/main" id="{898DD81A-A2EC-46EE-80CB-8527B41BDA3C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3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dirty="0" err="1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全页为原商业计划的预测情景</a:t>
            </a:r>
            <a:r>
              <a:rPr sz="1350" b="0" dirty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。¥600为现样机实际采购成本，¥420为量产BOM目标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D09FDFCF-3EC2-4BB0-82DB-8962963FAF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5069734"/>
              </p:ext>
            </p:extLst>
          </p:nvPr>
        </p:nvGraphicFramePr>
        <p:xfrm>
          <a:off x="609600" y="2114550"/>
          <a:ext cx="4953000" cy="286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unit-contribution">
            <a:extLst>
              <a:ext uri="{FF2B5EF4-FFF2-40B4-BE49-F238E27FC236}">
                <a16:creationId xmlns:a16="http://schemas.microsoft.com/office/drawing/2014/main" id="{D9D74116-30F7-4D95-BFA8-AD4F45428409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50958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出厂价</a:t>
            </a:r>
            <a:r>
              <a:rPr sz="2175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 − BOM = ¥1,130/</a:t>
            </a:r>
            <a:r>
              <a:rPr sz="2175" b="1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台</a:t>
            </a:r>
            <a:endParaRPr sz="2175" b="1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unit-rate">
            <a:extLst>
              <a:ext uri="{FF2B5EF4-FFF2-40B4-BE49-F238E27FC236}">
                <a16:creationId xmlns:a16="http://schemas.microsoft.com/office/drawing/2014/main" id="{FFC36142-E21F-4DF2-8F45-F8986D9130D9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50958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rPr>
              <a:t>BOM 口径边际贡献率约 73%</a:t>
            </a:r>
          </a:p>
        </p:txBody>
      </p:sp>
      <p:sp>
        <p:nvSpPr>
          <p:cNvPr id="9" name="gross-label">
            <a:extLst>
              <a:ext uri="{FF2B5EF4-FFF2-40B4-BE49-F238E27FC236}">
                <a16:creationId xmlns:a16="http://schemas.microsoft.com/office/drawing/2014/main" id="{CDE0F63C-5FAD-400C-A283-F84C0A30819B}"/>
              </a:ext>
            </a:extLst>
          </p:cNvPr>
          <p:cNvSpPr>
            <a:spLocks noGrp="1"/>
          </p:cNvSpPr>
          <p:nvPr/>
        </p:nvSpPr>
        <p:spPr>
          <a:xfrm>
            <a:off x="6134100" y="2095500"/>
            <a:ext cx="5448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10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18个月</a:t>
            </a:r>
            <a:r>
              <a:rPr lang="zh-CN" altLang="en-US" sz="210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内</a:t>
            </a:r>
            <a:r>
              <a:rPr sz="2100" b="1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累计经营毛利（预测</a:t>
            </a:r>
            <a:r>
              <a:rPr sz="210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）</a:t>
            </a:r>
          </a:p>
        </p:txBody>
      </p:sp>
      <p:sp>
        <p:nvSpPr>
          <p:cNvPr id="10" name="gross-value">
            <a:extLst>
              <a:ext uri="{FF2B5EF4-FFF2-40B4-BE49-F238E27FC236}">
                <a16:creationId xmlns:a16="http://schemas.microsoft.com/office/drawing/2014/main" id="{39C71540-0D82-453D-853A-8D05AA5A4854}"/>
              </a:ext>
            </a:extLst>
          </p:cNvPr>
          <p:cNvSpPr>
            <a:spLocks noGrp="1"/>
          </p:cNvSpPr>
          <p:nvPr/>
        </p:nvSpPr>
        <p:spPr>
          <a:xfrm>
            <a:off x="6134100" y="2581275"/>
            <a:ext cx="54483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50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450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450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450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450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450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450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450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450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450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450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8E9F90"/>
                </a:solidFill>
                <a:latin typeface="Hiragino Sans GB"/>
                <a:ea typeface="Hiragino Sans GB"/>
                <a:cs typeface="Hiragino Sans GB"/>
              </a:rPr>
              <a:t>36.49 万元</a:t>
            </a:r>
          </a:p>
        </p:txBody>
      </p:sp>
      <p:sp>
        <p:nvSpPr>
          <p:cNvPr id="11" name="ratio">
            <a:extLst>
              <a:ext uri="{FF2B5EF4-FFF2-40B4-BE49-F238E27FC236}">
                <a16:creationId xmlns:a16="http://schemas.microsoft.com/office/drawing/2014/main" id="{FF43460A-CD32-4BD0-879E-238AC1E9B943}"/>
              </a:ext>
            </a:extLst>
          </p:cNvPr>
          <p:cNvSpPr>
            <a:spLocks noGrp="1"/>
          </p:cNvSpPr>
          <p:nvPr/>
        </p:nvSpPr>
        <p:spPr>
          <a:xfrm>
            <a:off x="6134100" y="3457575"/>
            <a:ext cx="5448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约为90万元规划投入的 40.5%</a:t>
            </a:r>
          </a:p>
        </p:txBody>
      </p:sp>
      <p:sp>
        <p:nvSpPr>
          <p:cNvPr id="12" name="ratio-scope">
            <a:extLst>
              <a:ext uri="{FF2B5EF4-FFF2-40B4-BE49-F238E27FC236}">
                <a16:creationId xmlns:a16="http://schemas.microsoft.com/office/drawing/2014/main" id="{5629F55F-606E-42BD-A9D7-EDA45D01B2E3}"/>
              </a:ext>
            </a:extLst>
          </p:cNvPr>
          <p:cNvSpPr>
            <a:spLocks noGrp="1"/>
          </p:cNvSpPr>
          <p:nvPr/>
        </p:nvSpPr>
        <p:spPr>
          <a:xfrm>
            <a:off x="6134100" y="3867150"/>
            <a:ext cx="54483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B7D8B"/>
                </a:solidFill>
                <a:latin typeface="Hiragino Sans GB"/>
                <a:ea typeface="Hiragino Sans GB"/>
                <a:cs typeface="Hiragino Sans GB"/>
              </a:rPr>
              <a:t>毛利／投入比，尚未扣除经营费用</a:t>
            </a:r>
          </a:p>
        </p:txBody>
      </p:sp>
      <p:sp>
        <p:nvSpPr>
          <p:cNvPr id="13" name="returns-divider">
            <a:extLst>
              <a:ext uri="{FF2B5EF4-FFF2-40B4-BE49-F238E27FC236}">
                <a16:creationId xmlns:a16="http://schemas.microsoft.com/office/drawing/2014/main" id="{A8D1E56A-3E67-4747-9AA0-4251AFBE61D6}"/>
              </a:ext>
            </a:extLst>
          </p:cNvPr>
          <p:cNvSpPr>
            <a:spLocks noGrp="1"/>
          </p:cNvSpPr>
          <p:nvPr/>
        </p:nvSpPr>
        <p:spPr>
          <a:xfrm>
            <a:off x="6134100" y="4467225"/>
            <a:ext cx="5448300" cy="9525"/>
          </a:xfrm>
          <a:prstGeom prst="rect">
            <a:avLst/>
          </a:prstGeom>
          <a:solidFill>
            <a:srgbClr val="DAD0D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volume">
            <a:extLst>
              <a:ext uri="{FF2B5EF4-FFF2-40B4-BE49-F238E27FC236}">
                <a16:creationId xmlns:a16="http://schemas.microsoft.com/office/drawing/2014/main" id="{14BF7DF8-7409-4703-A284-7D1111EA8678}"/>
              </a:ext>
            </a:extLst>
          </p:cNvPr>
          <p:cNvSpPr>
            <a:spLocks noGrp="1"/>
          </p:cNvSpPr>
          <p:nvPr/>
        </p:nvSpPr>
        <p:spPr>
          <a:xfrm>
            <a:off x="6134100" y="4505325"/>
            <a:ext cx="54483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>
              <a:defRPr sz="2550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en-US" altLang="zh-CN" sz="2000" dirty="0"/>
              <a:t>M7–12</a:t>
            </a:r>
            <a:r>
              <a:rPr lang="zh-CN" altLang="en-US" sz="2000" dirty="0"/>
              <a:t>每月</a:t>
            </a:r>
            <a:r>
              <a:rPr lang="en-US" altLang="zh-CN" sz="2000" dirty="0"/>
              <a:t>10</a:t>
            </a:r>
            <a:r>
              <a:rPr lang="zh-CN" altLang="en-US" sz="2000" dirty="0"/>
              <a:t>台；</a:t>
            </a:r>
            <a:r>
              <a:rPr lang="en-US" altLang="zh-CN" sz="2000" dirty="0"/>
              <a:t>M13</a:t>
            </a:r>
            <a:r>
              <a:rPr lang="zh-CN" altLang="en-US" sz="2000" dirty="0"/>
              <a:t>后 </a:t>
            </a:r>
            <a:r>
              <a:rPr sz="200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45 </a:t>
            </a:r>
            <a:r>
              <a:rPr sz="2000" b="1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台</a:t>
            </a:r>
            <a:r>
              <a:rPr sz="2000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/</a:t>
            </a:r>
            <a:r>
              <a:rPr sz="2000" b="1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月</a:t>
            </a:r>
            <a:endParaRPr sz="2000" b="1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volume-label">
            <a:extLst>
              <a:ext uri="{FF2B5EF4-FFF2-40B4-BE49-F238E27FC236}">
                <a16:creationId xmlns:a16="http://schemas.microsoft.com/office/drawing/2014/main" id="{346EEB9E-642D-4DA9-96C1-75D9C1937C98}"/>
              </a:ext>
            </a:extLst>
          </p:cNvPr>
          <p:cNvSpPr>
            <a:spLocks noGrp="1"/>
          </p:cNvSpPr>
          <p:nvPr/>
        </p:nvSpPr>
        <p:spPr>
          <a:xfrm>
            <a:off x="6134100" y="5243513"/>
            <a:ext cx="54483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00" b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放量销售假设，约</a:t>
            </a:r>
            <a:r>
              <a:rPr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 540 </a:t>
            </a:r>
            <a:r>
              <a:rPr sz="1800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台</a:t>
            </a:r>
            <a:r>
              <a:rPr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/</a:t>
            </a:r>
            <a:r>
              <a:rPr sz="1800" b="0" dirty="0" err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年</a:t>
            </a:r>
            <a:endParaRPr sz="1800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break-even">
            <a:extLst>
              <a:ext uri="{FF2B5EF4-FFF2-40B4-BE49-F238E27FC236}">
                <a16:creationId xmlns:a16="http://schemas.microsoft.com/office/drawing/2014/main" id="{7CC9F0CE-BE8F-4D00-B654-410F0CD76CD2}"/>
              </a:ext>
            </a:extLst>
          </p:cNvPr>
          <p:cNvSpPr>
            <a:spLocks noGrp="1"/>
          </p:cNvSpPr>
          <p:nvPr/>
        </p:nvSpPr>
        <p:spPr>
          <a:xfrm>
            <a:off x="6134100" y="5619750"/>
            <a:ext cx="54483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约 41 台/月 达到会计盈亏平衡</a:t>
            </a:r>
          </a:p>
        </p:txBody>
      </p:sp>
      <p:sp>
        <p:nvSpPr>
          <p:cNvPr id="18" name="unit-contribution">
            <a:extLst>
              <a:ext uri="{FF2B5EF4-FFF2-40B4-BE49-F238E27FC236}">
                <a16:creationId xmlns:a16="http://schemas.microsoft.com/office/drawing/2014/main" id="{E3C06CEB-F6AE-1562-EE4B-482053018813}"/>
              </a:ext>
            </a:extLst>
          </p:cNvPr>
          <p:cNvSpPr>
            <a:spLocks noGrp="1"/>
          </p:cNvSpPr>
          <p:nvPr/>
        </p:nvSpPr>
        <p:spPr>
          <a:xfrm>
            <a:off x="6901886" y="369470"/>
            <a:ext cx="5027694" cy="141421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2175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公开资料显示国内企业用户至少</a:t>
            </a:r>
            <a:r>
              <a:rPr lang="en-US" altLang="zh-CN" sz="2175" b="1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2000</a:t>
            </a:r>
            <a:r>
              <a:rPr lang="zh-CN" altLang="en-US" dirty="0"/>
              <a:t>家</a:t>
            </a:r>
            <a:endParaRPr lang="en-US" altLang="zh-CN" sz="2175" b="1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生豆贸易商有至少</a:t>
            </a:r>
            <a:r>
              <a:rPr lang="en-US" altLang="zh-CN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1000</a:t>
            </a:r>
            <a:r>
              <a:rPr lang="zh-CN" altLang="en-US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家</a:t>
            </a:r>
            <a:endParaRPr lang="en-US" altLang="zh-CN" sz="1800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烘焙厂</a:t>
            </a:r>
            <a:r>
              <a:rPr lang="en-US" altLang="zh-CN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800</a:t>
            </a:r>
            <a:r>
              <a:rPr lang="zh-CN" altLang="en-US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家</a:t>
            </a:r>
            <a:endParaRPr lang="en-US" altLang="zh-CN" sz="1800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云南</a:t>
            </a:r>
            <a:r>
              <a:rPr lang="en-US" altLang="zh-CN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+</a:t>
            </a:r>
            <a:r>
              <a:rPr lang="zh-CN" altLang="en-US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海南加工企业至少</a:t>
            </a:r>
            <a:r>
              <a:rPr lang="en-US" altLang="zh-CN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200</a:t>
            </a:r>
            <a:r>
              <a:rPr lang="zh-CN" altLang="en-US" sz="1800" b="0" dirty="0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rPr>
              <a:t>家</a:t>
            </a:r>
            <a:endParaRPr lang="en-US" altLang="zh-CN" sz="1800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endParaRPr lang="zh-CN" altLang="en-US" sz="1800" b="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defRPr sz="2175" b="1">
                <a:solidFill>
                  <a:srgbClr val="6256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2400" dirty="0"/>
              <a:t>国际市场预计是</a:t>
            </a:r>
            <a:r>
              <a:rPr lang="en-US" altLang="zh-CN" sz="2400" dirty="0"/>
              <a:t>30</a:t>
            </a:r>
            <a:r>
              <a:rPr lang="zh-CN" altLang="en-US" sz="2400" dirty="0"/>
              <a:t>倍数量级！</a:t>
            </a:r>
            <a:endParaRPr sz="2400" dirty="0">
              <a:solidFill>
                <a:srgbClr val="62566B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879824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5B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ision-brand">
            <a:extLst>
              <a:ext uri="{FF2B5EF4-FFF2-40B4-BE49-F238E27FC236}">
                <a16:creationId xmlns:a16="http://schemas.microsoft.com/office/drawing/2014/main" id="{B6D46BF5-3C27-4639-9C95-D03F6D6EA2B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5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5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5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5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5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5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5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5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5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5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豆鉴 BeanLens</a:t>
            </a:r>
          </a:p>
        </p:txBody>
      </p:sp>
      <p:sp>
        <p:nvSpPr>
          <p:cNvPr id="2" name="vision-event">
            <a:extLst>
              <a:ext uri="{FF2B5EF4-FFF2-40B4-BE49-F238E27FC236}">
                <a16:creationId xmlns:a16="http://schemas.microsoft.com/office/drawing/2014/main" id="{7BDDD82B-76C3-4BCB-99CB-1CF690936CD8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E3DCE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E3DCE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E3DCE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E3DCE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E3DCE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E3DCE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E3DCE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E3DCE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E3DCE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E3DCE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725" b="0">
                <a:solidFill>
                  <a:srgbClr val="E3DCE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E3DCE6"/>
                </a:solidFill>
                <a:latin typeface="Hiragino Sans GB"/>
                <a:ea typeface="Hiragino Sans GB"/>
                <a:cs typeface="Hiragino Sans GB"/>
              </a:rPr>
              <a:t>WTCC 2026 创客松</a:t>
            </a:r>
          </a:p>
        </p:txBody>
      </p:sp>
      <p:sp>
        <p:nvSpPr>
          <p:cNvPr id="3" name="vision-heading">
            <a:extLst>
              <a:ext uri="{FF2B5EF4-FFF2-40B4-BE49-F238E27FC236}">
                <a16:creationId xmlns:a16="http://schemas.microsoft.com/office/drawing/2014/main" id="{795D715E-69CD-43C0-A940-7EDF64A9D511}"/>
              </a:ext>
            </a:extLst>
          </p:cNvPr>
          <p:cNvSpPr>
            <a:spLocks noGrp="1"/>
          </p:cNvSpPr>
          <p:nvPr/>
        </p:nvSpPr>
        <p:spPr>
          <a:xfrm>
            <a:off x="609600" y="1990726"/>
            <a:ext cx="10972800" cy="1123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40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40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40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40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40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40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40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40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40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40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 dirty="0" err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从</a:t>
            </a:r>
            <a:r>
              <a:rPr lang="zh-CN" altLang="en-US" sz="4000" dirty="0"/>
              <a:t>概念</a:t>
            </a:r>
            <a:r>
              <a:rPr sz="4000" b="1" dirty="0" err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样机</a:t>
            </a:r>
            <a:endParaRPr lang="en-US" sz="4000" b="1" dirty="0">
              <a:solidFill>
                <a:srgbClr val="F8F6F2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defRPr sz="405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 dirty="0" err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走向</a:t>
            </a:r>
            <a:r>
              <a:rPr lang="zh-CN" altLang="en-US" sz="4050" b="1" dirty="0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全球创收的</a:t>
            </a:r>
            <a:r>
              <a:rPr lang="en-US" sz="4050" b="1" u="sng" dirty="0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AI</a:t>
            </a:r>
            <a:r>
              <a:rPr lang="zh-CN" altLang="en-US" sz="4050" b="1" u="sng" dirty="0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数字化</a:t>
            </a:r>
            <a:r>
              <a:rPr sz="4050" b="1" u="sng" dirty="0" err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咖啡品控</a:t>
            </a:r>
            <a:r>
              <a:rPr lang="zh-CN" altLang="en-US" sz="4050" b="1" u="sng" dirty="0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产品</a:t>
            </a:r>
            <a:endParaRPr sz="4050" b="1" u="sng" dirty="0">
              <a:solidFill>
                <a:srgbClr val="F8F6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vision-value">
            <a:extLst>
              <a:ext uri="{FF2B5EF4-FFF2-40B4-BE49-F238E27FC236}">
                <a16:creationId xmlns:a16="http://schemas.microsoft.com/office/drawing/2014/main" id="{DEC1E724-983E-4C9E-910F-81B6D63EAE6C}"/>
              </a:ext>
            </a:extLst>
          </p:cNvPr>
          <p:cNvSpPr>
            <a:spLocks noGrp="1"/>
          </p:cNvSpPr>
          <p:nvPr/>
        </p:nvSpPr>
        <p:spPr>
          <a:xfrm>
            <a:off x="609600" y="32480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77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77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77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77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77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77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77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77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77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77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77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让中小型生豆商，也用得起数字化验收工具</a:t>
            </a:r>
            <a:endParaRPr sz="2775" b="1" dirty="0">
              <a:solidFill>
                <a:srgbClr val="F8F6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vision-rule">
            <a:extLst>
              <a:ext uri="{FF2B5EF4-FFF2-40B4-BE49-F238E27FC236}">
                <a16:creationId xmlns:a16="http://schemas.microsoft.com/office/drawing/2014/main" id="{F9786C64-325B-42E7-BA74-D7E9F7CA06CC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0972800" cy="9525"/>
          </a:xfrm>
          <a:prstGeom prst="rect">
            <a:avLst/>
          </a:prstGeom>
          <a:solidFill>
            <a:srgbClr val="97889E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vision-path">
            <a:extLst>
              <a:ext uri="{FF2B5EF4-FFF2-40B4-BE49-F238E27FC236}">
                <a16:creationId xmlns:a16="http://schemas.microsoft.com/office/drawing/2014/main" id="{2CABF83B-EB76-4B78-A00C-2C8758EEE8D9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2100" b="1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2100" b="1" dirty="0">
                <a:solidFill>
                  <a:srgbClr val="F8F6F2"/>
                </a:solidFill>
                <a:latin typeface="Hiragino Sans GB"/>
                <a:ea typeface="Hiragino Sans GB"/>
                <a:cs typeface="Hiragino Sans GB"/>
              </a:rPr>
              <a:t>感谢评委老师</a:t>
            </a:r>
            <a:endParaRPr sz="2100" b="1" dirty="0">
              <a:solidFill>
                <a:srgbClr val="F8F6F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8149977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2130</Words>
  <Application>Microsoft Macintosh PowerPoint</Application>
  <DocSecurity>0</DocSecurity>
  <PresentationFormat>宽屏</PresentationFormat>
  <Paragraphs>296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Hiragino Sans GB</vt:lpstr>
      <vt:lpstr>Aptos</vt:lpstr>
      <vt:lpstr>Arial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Chengzhe Jiang</cp:lastModifiedBy>
  <cp:revision>8</cp:revision>
  <dcterms:created xsi:type="dcterms:W3CDTF">2026-10-24T12:44:23Z</dcterms:created>
  <dcterms:modified xsi:type="dcterms:W3CDTF">2026-10-25T00:55:51Z</dcterms:modified>
</cp:coreProperties>
</file>